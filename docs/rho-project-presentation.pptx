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73" r:id="rId8"/>
    <p:sldId id="274" r:id="rId9"/>
    <p:sldId id="261" r:id="rId10"/>
    <p:sldId id="262" r:id="rId11"/>
    <p:sldId id="270" r:id="rId12"/>
    <p:sldId id="271" r:id="rId13"/>
    <p:sldId id="272" r:id="rId14"/>
    <p:sldId id="263" r:id="rId15"/>
    <p:sldId id="264" r:id="rId16"/>
    <p:sldId id="265" r:id="rId17"/>
    <p:sldId id="267" r:id="rId18"/>
    <p:sldId id="269" r:id="rId19"/>
  </p:sldIdLst>
  <p:sldSz cx="1219136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75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1828800"/>
            <a:ext cx="9326880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600"/>
              </a:spcAft>
            </a:pPr>
            <a:r>
              <a:rPr sz="1200" b="0" i="0">
                <a:solidFill>
                  <a:srgbClr val="8A8D96"/>
                </a:solidFill>
                <a:latin typeface="Consolas"/>
              </a:rPr>
              <a:t>RÉSUMÉ OPTIMISATION USING GENERATIVE AI</a:t>
            </a:r>
            <a:endParaRPr sz="1200" b="0" i="0">
              <a:solidFill>
                <a:srgbClr val="8A8D96"/>
              </a:solidFill>
              <a:latin typeface="Consolas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16171B"/>
                </a:solidFill>
                <a:latin typeface="Georgia"/>
              </a:rPr>
              <a:t>Stopping the model</a:t>
            </a:r>
            <a:endParaRPr sz="4000" b="1" i="0">
              <a:solidFill>
                <a:srgbClr val="16171B"/>
              </a:solidFill>
              <a:latin typeface="Georgia"/>
            </a:endParaRPr>
          </a:p>
          <a:p>
            <a:pPr>
              <a:lnSpc>
                <a:spcPct val="105000"/>
              </a:lnSpc>
              <a:spcBef>
                <a:spcPts val="0"/>
              </a:spcBef>
              <a:spcAft>
                <a:spcPts val="1600"/>
              </a:spcAft>
            </a:pPr>
            <a:r>
              <a:rPr sz="4000" b="1" i="0">
                <a:solidFill>
                  <a:srgbClr val="2F5378"/>
                </a:solidFill>
                <a:latin typeface="Georgia"/>
              </a:rPr>
              <a:t>from lying about you</a:t>
            </a:r>
            <a:endParaRPr sz="4000" b="1" i="0">
              <a:solidFill>
                <a:srgbClr val="2F5378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600" b="0" i="0">
                <a:solidFill>
                  <a:srgbClr val="4A4C55"/>
                </a:solidFill>
                <a:latin typeface="Segoe UI"/>
              </a:rPr>
              <a:t>A provenance-verified rewrite gate for LLM résumé tailoring</a:t>
            </a:r>
            <a:endParaRPr sz="16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4709160"/>
            <a:ext cx="3291840" cy="19050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4983480"/>
            <a:ext cx="8229600" cy="170815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A4C55"/>
                </a:solidFill>
                <a:latin typeface="Segoe UI"/>
              </a:rPr>
              <a:t>Divanshu Bhargava</a:t>
            </a:r>
            <a:br>
              <a:rPr sz="1200" b="0" i="0">
                <a:solidFill>
                  <a:srgbClr val="4A4C55"/>
                </a:solidFill>
                <a:latin typeface="Segoe UI"/>
              </a:rPr>
            </a:br>
            <a:r>
              <a:rPr sz="1200" b="0" i="0">
                <a:solidFill>
                  <a:srgbClr val="4A4C55"/>
                </a:solidFill>
                <a:latin typeface="Segoe UI"/>
              </a:rPr>
              <a:t>Aayushi Rajesh Thakre</a:t>
            </a:r>
            <a:br>
              <a:rPr sz="1200" b="0" i="0">
                <a:solidFill>
                  <a:srgbClr val="4A4C55"/>
                </a:solidFill>
                <a:latin typeface="Segoe UI"/>
              </a:rPr>
            </a:br>
            <a:r>
              <a:rPr sz="1200" b="0" i="0">
                <a:solidFill>
                  <a:srgbClr val="4A4C55"/>
                </a:solidFill>
                <a:latin typeface="Segoe UI"/>
              </a:rPr>
              <a:t>Salugu Harshita Bhanu</a:t>
            </a:r>
            <a:br>
              <a:rPr sz="1200" b="0" i="0">
                <a:solidFill>
                  <a:srgbClr val="4A4C55"/>
                </a:solidFill>
                <a:latin typeface="Segoe UI"/>
              </a:rPr>
            </a:br>
            <a:r>
              <a:rPr sz="1200" b="0" i="0">
                <a:solidFill>
                  <a:srgbClr val="4A4C55"/>
                </a:solidFill>
                <a:latin typeface="Segoe UI"/>
              </a:rPr>
              <a:t>Aryan Kesarwani</a:t>
            </a:r>
            <a:br>
              <a:rPr sz="1200" b="0" i="0">
                <a:solidFill>
                  <a:srgbClr val="4A4C55"/>
                </a:solidFill>
                <a:latin typeface="Segoe UI"/>
              </a:rPr>
            </a:br>
            <a:r>
              <a:rPr sz="1200" b="0" i="0">
                <a:solidFill>
                  <a:srgbClr val="4A4C55"/>
                </a:solidFill>
                <a:latin typeface="Segoe UI"/>
              </a:rPr>
              <a:t>Karan Pawar</a:t>
            </a:r>
            <a:endParaRPr sz="1200" b="0" i="0">
              <a:solidFill>
                <a:srgbClr val="4A4C55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200" b="0" i="0">
              <a:solidFill>
                <a:srgbClr val="4A4C55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endParaRPr sz="1200" b="0" i="0">
              <a:solidFill>
                <a:srgbClr val="4A4C55"/>
              </a:solidFill>
              <a:latin typeface="Segoe UI"/>
            </a:endParaRPr>
          </a:p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200" b="0" i="0">
                <a:solidFill>
                  <a:srgbClr val="4A4C55"/>
                </a:solidFill>
                <a:latin typeface="Segoe UI"/>
              </a:rPr>
              <a:t>gemini-3.1-flash-lite  ·  all-mpnet-base-v2  ·  Docling  ·  LangGraph</a:t>
            </a:r>
            <a:endParaRPr sz="12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7" name="TextBox 5"/>
          <p:cNvSpPr txBox="1"/>
          <p:nvPr/>
        </p:nvSpPr>
        <p:spPr>
          <a:xfrm>
            <a:off x="9122410" y="6469380"/>
            <a:ext cx="8229600" cy="2768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lang="en-IN" b="0" i="0">
                <a:solidFill>
                  <a:srgbClr val="4A4C55"/>
                </a:solidFill>
                <a:latin typeface="Segoe UI"/>
              </a:rPr>
              <a:t>Dr. Ranjeet Kumar Ranjan</a:t>
            </a:r>
            <a:endParaRPr lang="en-IN" b="0" i="0">
              <a:solidFill>
                <a:srgbClr val="4A4C5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01   </a:t>
            </a:r>
            <a:r>
              <a:rPr sz="2600" b="1">
                <a:solidFill>
                  <a:srgbClr val="16171B"/>
                </a:solidFill>
                <a:latin typeface="Georgia"/>
              </a:rPr>
              <a:t>The problem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why the obvious version of this project is the wrong one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943600" cy="3657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16171B"/>
                </a:solidFill>
                <a:latin typeface="Segoe UI"/>
              </a:rPr>
              <a:t>Ask any LLM to tailor a résumé to a job. It will produce a better-matching résumé.</a:t>
            </a:r>
            <a:endParaRPr sz="1600" b="0" i="0">
              <a:solidFill>
                <a:srgbClr val="16171B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1400"/>
              </a:spcAft>
            </a:pPr>
            <a:r>
              <a:rPr sz="2200" b="1" i="0">
                <a:solidFill>
                  <a:srgbClr val="98362A"/>
                </a:solidFill>
                <a:latin typeface="Georgia"/>
              </a:rPr>
              <a:t>It will also invent.</a:t>
            </a:r>
            <a:endParaRPr sz="2200" b="1" i="0">
              <a:solidFill>
                <a:srgbClr val="98362A"/>
              </a:solidFill>
              <a:latin typeface="Georgia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600"/>
              </a:spcAft>
            </a:pPr>
            <a:r>
              <a:rPr sz="1400" b="0" i="0">
                <a:solidFill>
                  <a:srgbClr val="4A4C55"/>
                </a:solidFill>
                <a:latin typeface="Segoe UI"/>
              </a:rPr>
              <a:t>Not maliciously. A model asked to close the gap between what a résumé says and what a job wants has one easy way to close it — add the missing skill.</a:t>
            </a:r>
            <a:endParaRPr sz="14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4270248"/>
            <a:ext cx="5943600" cy="1143000"/>
          </a:xfrm>
          <a:prstGeom prst="rect">
            <a:avLst/>
          </a:prstGeom>
          <a:solidFill>
            <a:srgbClr val="F7EBE8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4407408"/>
            <a:ext cx="557784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950" b="1" i="0">
                <a:solidFill>
                  <a:srgbClr val="98362A"/>
                </a:solidFill>
                <a:latin typeface="Consolas"/>
              </a:rPr>
              <a:t>THE CORE DIFFICULTY</a:t>
            </a:r>
            <a:endParaRPr sz="950" b="1" i="0">
              <a:solidFill>
                <a:srgbClr val="98362A"/>
              </a:solidFill>
              <a:latin typeface="Consola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6171B"/>
                </a:solidFill>
                <a:latin typeface="Segoe UI"/>
              </a:rPr>
              <a:t>Optimising for match score actively rewards fabrication. The invented keyword IS the keyword being scored.</a:t>
            </a:r>
            <a:endParaRPr sz="13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269480" y="1481328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WHAT THE MODEL LEARNS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269480" y="1892808"/>
            <a:ext cx="4114800" cy="868680"/>
          </a:xfrm>
          <a:prstGeom prst="rect">
            <a:avLst/>
          </a:prstGeom>
          <a:solidFill>
            <a:srgbClr val="FFFFFF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52360" y="2029968"/>
            <a:ext cx="3749039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Résumé lacks 'Kubernetes'</a:t>
            </a:r>
            <a:endParaRPr sz="1250" b="0" i="0">
              <a:solidFill>
                <a:srgbClr val="4A4C55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Job requires 'Kubernetes'</a:t>
            </a:r>
            <a:endParaRPr sz="12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69480" y="2871216"/>
            <a:ext cx="411480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2000" b="0" i="0">
                <a:solidFill>
                  <a:srgbClr val="8A8D96"/>
                </a:solidFill>
                <a:latin typeface="Segoe UI"/>
              </a:rPr>
              <a:t>↓</a:t>
            </a:r>
            <a:endParaRPr sz="2000" b="0" i="0">
              <a:solidFill>
                <a:srgbClr val="8A8D96"/>
              </a:solidFill>
              <a:latin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269480" y="3264408"/>
            <a:ext cx="4114800" cy="731520"/>
          </a:xfrm>
          <a:prstGeom prst="rect">
            <a:avLst/>
          </a:prstGeom>
          <a:solidFill>
            <a:srgbClr val="F7EBE8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52360" y="3419856"/>
            <a:ext cx="3749039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98362A"/>
                </a:solidFill>
                <a:latin typeface="Segoe UI"/>
              </a:rPr>
              <a:t>Add 'Kubernetes'  →  score goes up</a:t>
            </a:r>
            <a:endParaRPr sz="1300" b="1" i="0">
              <a:solidFill>
                <a:srgbClr val="98362A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269480" y="4178808"/>
            <a:ext cx="411480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300" b="1" i="0">
                <a:solidFill>
                  <a:srgbClr val="16171B"/>
                </a:solidFill>
                <a:latin typeface="Segoe UI"/>
              </a:rPr>
              <a:t>Every naïve metric ranks the fabricating system ABOVE the honest one.</a:t>
            </a:r>
            <a:endParaRPr sz="1300" b="1" i="0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So truthfulness cannot come from the objective. It needs an external, checkable constraint.</a:t>
            </a:r>
            <a:endParaRPr sz="1250" b="0" i="0">
              <a:solidFill>
                <a:srgbClr val="4A4C5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02   </a:t>
            </a:r>
            <a:r>
              <a:rPr sz="2600" b="1">
                <a:solidFill>
                  <a:srgbClr val="16171B"/>
                </a:solidFill>
                <a:latin typeface="Georgia"/>
              </a:rPr>
              <a:t>The thesis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one sentence the whole project defends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1664208"/>
            <a:ext cx="10637215" cy="1371600"/>
          </a:xfrm>
          <a:prstGeom prst="rect">
            <a:avLst/>
          </a:prstGeom>
          <a:solidFill>
            <a:srgbClr val="E9EFF5"/>
          </a:solidFill>
          <a:ln w="19050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892808"/>
            <a:ext cx="999713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300"/>
              </a:spcAft>
            </a:pPr>
            <a:r>
              <a:rPr sz="1900" b="1" i="0">
                <a:solidFill>
                  <a:srgbClr val="16171B"/>
                </a:solidFill>
                <a:latin typeface="Georgia"/>
              </a:rPr>
              <a:t>Every hard-content token in a rewritten résumé — skill, tool, employer,</a:t>
            </a:r>
            <a:endParaRPr sz="1900" b="1" i="0">
              <a:solidFill>
                <a:srgbClr val="16171B"/>
              </a:solidFill>
              <a:latin typeface="Georgi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900" b="1" i="0">
                <a:solidFill>
                  <a:srgbClr val="16171B"/>
                </a:solidFill>
                <a:latin typeface="Georgia"/>
              </a:rPr>
              <a:t>number, date — must trace to a span in the original document.</a:t>
            </a:r>
            <a:endParaRPr sz="1900" b="1" i="0">
              <a:solidFill>
                <a:srgbClr val="16171B"/>
              </a:solidFill>
              <a:latin typeface="Georgia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77240" y="3355847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F5378"/>
                </a:solidFill>
                <a:latin typeface="Consolas"/>
              </a:rPr>
              <a:t>WE CALL THIS THE PROVENANCE INVARIANT</a:t>
            </a:r>
            <a:endParaRPr sz="1000" b="1" i="0">
              <a:solidFill>
                <a:srgbClr val="2F5378"/>
              </a:solidFill>
              <a:latin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3858768"/>
            <a:ext cx="5090007" cy="1828800"/>
          </a:xfrm>
          <a:prstGeom prst="rect">
            <a:avLst/>
          </a:prstGeom>
          <a:solidFill>
            <a:srgbClr val="FFFFFF"/>
          </a:solidFill>
          <a:ln w="15875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3995928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D96"/>
                </a:solidFill>
                <a:latin typeface="Consolas"/>
              </a:rPr>
              <a:t>GENERATOR  (the LLM)</a:t>
            </a:r>
            <a:endParaRPr sz="100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60120" y="4334256"/>
            <a:ext cx="4724247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Creative, temperature 0.6</a:t>
            </a:r>
            <a:endParaRPr sz="1150" b="0" i="0">
              <a:solidFill>
                <a:srgbClr val="4A4C55"/>
              </a:solidFill>
              <a:latin typeface="Segoe U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Allowed to be wrong</a:t>
            </a:r>
            <a:endParaRPr sz="1150" b="0" i="0">
              <a:solidFill>
                <a:srgbClr val="4A4C55"/>
              </a:solidFill>
              <a:latin typeface="Segoe U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Proposes edits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24447" y="3858768"/>
            <a:ext cx="5090007" cy="182880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3995928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340"/>
                </a:solidFill>
                <a:latin typeface="Consolas"/>
              </a:rPr>
              <a:t>VERIFIER  (the gate)</a:t>
            </a:r>
            <a:endParaRPr sz="100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07327" y="4334256"/>
            <a:ext cx="4724247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Deterministic, LLM-free</a:t>
            </a:r>
            <a:endParaRPr sz="1150" b="0" i="0">
              <a:solidFill>
                <a:srgbClr val="4A4C55"/>
              </a:solidFill>
              <a:latin typeface="Segoe U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Allowed to be strict</a:t>
            </a:r>
            <a:endParaRPr sz="1150" b="0" i="0">
              <a:solidFill>
                <a:srgbClr val="4A4C55"/>
              </a:solidFill>
              <a:latin typeface="Segoe U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7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· Disposes of anything unsupported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Separating these is what makes 'fabrication rate' a measurement rather than a model's opinion of itself.</a:t>
            </a:r>
            <a:endParaRPr sz="950" b="0" i="0">
              <a:solidFill>
                <a:srgbClr val="8A8D9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03   </a:t>
            </a:r>
            <a:r>
              <a:rPr sz="2600" b="1">
                <a:solidFill>
                  <a:srgbClr val="16171B"/>
                </a:solidFill>
                <a:latin typeface="Georgia"/>
              </a:rPr>
              <a:t>Architecture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seven nodes · two parallel branches · one barrier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2258568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40487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B"/>
                </a:solidFill>
                <a:latin typeface="Consolas"/>
              </a:rPr>
              <a:t>ingest</a:t>
            </a:r>
            <a:endParaRPr sz="1250" b="1" i="0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651759" y="1801368"/>
            <a:ext cx="14173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651759" y="194767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8362A"/>
                </a:solidFill>
                <a:latin typeface="Consolas"/>
              </a:rPr>
              <a:t>extract</a:t>
            </a:r>
            <a:endParaRPr sz="1250" b="1" i="0">
              <a:solidFill>
                <a:srgbClr val="98362A"/>
              </a:solidFill>
              <a:latin typeface="Consola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2651759" y="2715768"/>
            <a:ext cx="1417320" cy="566928"/>
          </a:xfrm>
          <a:prstGeom prst="rect">
            <a:avLst/>
          </a:prstGeom>
          <a:solidFill>
            <a:srgbClr val="FFFFFF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51759" y="286207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98362A"/>
                </a:solidFill>
                <a:latin typeface="Consolas"/>
              </a:rPr>
              <a:t>jd</a:t>
            </a:r>
            <a:endParaRPr sz="1250" b="1" i="0">
              <a:solidFill>
                <a:srgbClr val="98362A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4526279" y="2258568"/>
            <a:ext cx="1417320" cy="566928"/>
          </a:xfrm>
          <a:prstGeom prst="rect">
            <a:avLst/>
          </a:prstGeom>
          <a:solidFill>
            <a:srgbClr val="E9EFF5"/>
          </a:solidFill>
          <a:ln w="2222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26279" y="240487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2F5378"/>
                </a:solidFill>
                <a:latin typeface="Consolas"/>
              </a:rPr>
              <a:t>match</a:t>
            </a:r>
            <a:endParaRPr sz="1250" b="1" i="0">
              <a:solidFill>
                <a:srgbClr val="2F5378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6400800" y="2258568"/>
            <a:ext cx="1417320" cy="566928"/>
          </a:xfrm>
          <a:prstGeom prst="rect">
            <a:avLst/>
          </a:prstGeom>
          <a:solidFill>
            <a:srgbClr val="FFFFFF"/>
          </a:solidFill>
          <a:ln w="12700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00800" y="240487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B"/>
                </a:solidFill>
                <a:latin typeface="Consolas"/>
              </a:rPr>
              <a:t>score</a:t>
            </a:r>
            <a:endParaRPr sz="1250" b="1" i="0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8275319" y="2258568"/>
            <a:ext cx="1417320" cy="566928"/>
          </a:xfrm>
          <a:prstGeom prst="rect">
            <a:avLst/>
          </a:prstGeom>
          <a:solidFill>
            <a:srgbClr val="E8F1EC"/>
          </a:solidFill>
          <a:ln w="2540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75319" y="240487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6340"/>
                </a:solidFill>
                <a:latin typeface="Consolas"/>
              </a:rPr>
              <a:t>rewrite</a:t>
            </a:r>
            <a:endParaRPr sz="125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10149840" y="2258568"/>
            <a:ext cx="1417320" cy="566928"/>
          </a:xfrm>
          <a:prstGeom prst="rect">
            <a:avLst/>
          </a:prstGeom>
          <a:solidFill>
            <a:srgbClr val="E8F1EC"/>
          </a:solidFill>
          <a:ln w="2540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149840" y="2404872"/>
            <a:ext cx="1417320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B6340"/>
                </a:solidFill>
                <a:latin typeface="Consolas"/>
              </a:rPr>
              <a:t>review</a:t>
            </a:r>
            <a:endParaRPr sz="1250" b="1" i="0">
              <a:solidFill>
                <a:srgbClr val="1B6340"/>
              </a:solidFill>
              <a:latin typeface="Consolas"/>
            </a:endParaRPr>
          </a:p>
        </p:txBody>
      </p:sp>
      <p:cxnSp>
        <p:nvCxnSpPr>
          <p:cNvPr id="19" name="Connector 18"/>
          <p:cNvCxnSpPr/>
          <p:nvPr/>
        </p:nvCxnSpPr>
        <p:spPr>
          <a:xfrm flipV="1">
            <a:off x="2194560" y="2084832"/>
            <a:ext cx="457199" cy="45720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Connector 19"/>
          <p:cNvCxnSpPr/>
          <p:nvPr/>
        </p:nvCxnSpPr>
        <p:spPr>
          <a:xfrm>
            <a:off x="2194560" y="2542032"/>
            <a:ext cx="457199" cy="45720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4069079" y="2084832"/>
            <a:ext cx="457200" cy="45720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V="1">
            <a:off x="4069079" y="2542032"/>
            <a:ext cx="457200" cy="45720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>
            <a:off x="5943599" y="2542032"/>
            <a:ext cx="457201" cy="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7818120" y="2542032"/>
            <a:ext cx="457199" cy="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9692639" y="2542032"/>
            <a:ext cx="457201" cy="0"/>
          </a:xfrm>
          <a:prstGeom prst="bentConnector3">
            <a:avLst/>
          </a:prstGeom>
          <a:ln w="13970">
            <a:solidFill>
              <a:srgbClr val="8A8D9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Rectangle 25"/>
          <p:cNvSpPr/>
          <p:nvPr/>
        </p:nvSpPr>
        <p:spPr>
          <a:xfrm>
            <a:off x="777240" y="3630168"/>
            <a:ext cx="274320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161288" y="360273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deterministic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3154680" y="3630168"/>
            <a:ext cx="274320" cy="164592"/>
          </a:xfrm>
          <a:prstGeom prst="rect">
            <a:avLst/>
          </a:prstGeom>
          <a:solidFill>
            <a:srgbClr val="FFFFFF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38728" y="360273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stochastic (LLM)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5715000" y="3630168"/>
            <a:ext cx="274320" cy="164592"/>
          </a:xfrm>
          <a:prstGeom prst="rect">
            <a:avLst/>
          </a:prstGeom>
          <a:solidFill>
            <a:srgbClr val="E8F1EC"/>
          </a:solidFill>
          <a:ln w="2540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099048" y="360273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gate / verification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2" name="Rectangle 31"/>
          <p:cNvSpPr/>
          <p:nvPr/>
        </p:nvSpPr>
        <p:spPr>
          <a:xfrm>
            <a:off x="8458200" y="3630168"/>
            <a:ext cx="274320" cy="164592"/>
          </a:xfrm>
          <a:prstGeom prst="rect">
            <a:avLst/>
          </a:prstGeom>
          <a:solidFill>
            <a:srgbClr val="E9EFF5"/>
          </a:solidFill>
          <a:ln w="2222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842248" y="3602736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fan-in barrier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77240" y="4224528"/>
            <a:ext cx="10637215" cy="20116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600" b="0">
                <a:solidFill>
                  <a:srgbClr val="16171B"/>
                </a:solidFill>
                <a:latin typeface="Segoe UI"/>
              </a:rPr>
              <a:t>The architectural principle: </a:t>
            </a:r>
            <a:r>
              <a:rPr sz="1600" b="1">
                <a:solidFill>
                  <a:srgbClr val="16171B"/>
                </a:solidFill>
                <a:latin typeface="Segoe UI"/>
              </a:rPr>
              <a:t>no stochastic stage is the last word on anything factual.</a:t>
            </a:r>
            <a:endParaRPr sz="1600" b="1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20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Every LLM stage is immediately followed by a deterministic stage that checks it. Résumé parsing and JD analysis are independent, so they run in parallel.</a:t>
            </a:r>
            <a:endParaRPr sz="1350" b="0" i="0">
              <a:solidFill>
                <a:srgbClr val="4A4C55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>
                <a:solidFill>
                  <a:srgbClr val="2F5378"/>
                </a:solidFill>
                <a:latin typeface="Segoe UI"/>
              </a:rPr>
              <a:t>match</a:t>
            </a:r>
            <a:r>
              <a:rPr sz="1350" b="0">
                <a:solidFill>
                  <a:srgbClr val="4A4C55"/>
                </a:solidFill>
                <a:latin typeface="Segoe UI"/>
              </a:rPr>
              <a:t> is a deferred fan-in barrier, not a first-input-wins trigger — otherwise it fires on a state with requirements but no résumé, and crashes.</a:t>
            </a:r>
            <a:endParaRPr sz="1350" b="0">
              <a:solidFill>
                <a:srgbClr val="4A4C5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04   </a:t>
            </a:r>
            <a:r>
              <a:rPr sz="2600" b="1">
                <a:solidFill>
                  <a:srgbClr val="16171B"/>
                </a:solidFill>
                <a:latin typeface="Georgia"/>
              </a:rPr>
              <a:t>What we chose, and why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every component justified on task-shape grounds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COMPONENT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063240" y="1481328"/>
            <a:ext cx="21031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ROLE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66360" y="1481328"/>
            <a:ext cx="62179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WHY THIS ONE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10637215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Docling</a:t>
            </a:r>
            <a:endParaRPr sz="11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063240" y="192024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Layout-aware PDF conversion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6360" y="1920240"/>
            <a:ext cx="62179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Emits per-item geometry (page, bbox, offsets) — this is what makes a provenance chain possible at all. A plain text extractor would foreclose the whole thesis.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40" y="252374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65176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gemini-3.1-flash-lite</a:t>
            </a:r>
            <a:endParaRPr sz="11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063240" y="265176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Extraction · JD · rewrite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66360" y="2651760"/>
            <a:ext cx="62179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Consolas"/>
              </a:rPr>
              <a:t>Genuine responseSchema constrained decoding. Cross-checked on local qwen2.5:14b to prove the guarantee is not vendor-specific.</a:t>
            </a:r>
            <a:endParaRPr sz="115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325526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338328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all-mpnet-base-v2</a:t>
            </a:r>
            <a:endParaRPr sz="11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063240" y="338328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Semantic similarity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66360" y="3383280"/>
            <a:ext cx="62179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Task shape is symmetric short-text similarity, which all-* models target. Speed is irrelevant behind LLM calls, so MiniLM buys nothing.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7240" y="398678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11480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Ridge regression</a:t>
            </a:r>
            <a:endParaRPr sz="11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63240" y="411480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Score calibration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66360" y="4114800"/>
            <a:ext cx="62179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Consolas"/>
              </a:rPr>
              <a:t>199 pairs, 5 features — higher capacity overfits. Coefficients stay inspectable, which matters for an auditability-premised pipeline.</a:t>
            </a:r>
            <a:endParaRPr sz="115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7240" y="471830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846320"/>
            <a:ext cx="22860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RapidFuzz</a:t>
            </a:r>
            <a:endParaRPr sz="11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063240" y="4846320"/>
            <a:ext cx="21031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The gate itself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66360" y="4846320"/>
            <a:ext cx="621792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String-edit ratios, not embeddings. Determinism is what makes the fabrication rate reproducible rather than a model opinion.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240" y="544982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Temperature: 0 for extraction (reproducibility) · 0.6 for rewriting (the gate is what makes creativity safe)</a:t>
            </a:r>
            <a:endParaRPr sz="950" b="0" i="0">
              <a:solidFill>
                <a:srgbClr val="8A8D9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05   </a:t>
            </a:r>
            <a:r>
              <a:rPr sz="2600" b="1">
                <a:solidFill>
                  <a:srgbClr val="16171B"/>
                </a:solidFill>
                <a:latin typeface="Georgia"/>
              </a:rPr>
              <a:t>A path we tried and abandoned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KeyBERT for requirement extraction — measured, then replaced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>
                <a:solidFill>
                  <a:srgbClr val="16171B"/>
                </a:solidFill>
                <a:latin typeface="Segoe UI"/>
              </a:rPr>
              <a:t>The original design extracted job requirements with </a:t>
            </a:r>
            <a:r>
              <a:rPr sz="1450" b="1">
                <a:solidFill>
                  <a:srgbClr val="16171B"/>
                </a:solidFill>
                <a:latin typeface="Segoe UI"/>
              </a:rPr>
              <a:t>KeyBERT</a:t>
            </a:r>
            <a:r>
              <a:rPr sz="1450" b="0">
                <a:solidFill>
                  <a:srgbClr val="16171B"/>
                </a:solidFill>
                <a:latin typeface="Segoe UI"/>
              </a:rPr>
              <a:t> — BERT-embedding keyphrase extraction. It is still in the codebase. It is not on the live path.</a:t>
            </a:r>
            <a:endParaRPr sz="1450" b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2167128"/>
            <a:ext cx="5090007" cy="2880360"/>
          </a:xfrm>
          <a:prstGeom prst="rect">
            <a:avLst/>
          </a:prstGeom>
          <a:solidFill>
            <a:srgbClr val="FFFFFF"/>
          </a:solidFill>
          <a:ln w="1651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67128"/>
            <a:ext cx="5090007" cy="365760"/>
          </a:xfrm>
          <a:prstGeom prst="rect">
            <a:avLst/>
          </a:prstGeom>
          <a:solidFill>
            <a:srgbClr val="F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60120" y="2258568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98362A"/>
                </a:solidFill>
                <a:latin typeface="Consolas"/>
              </a:rPr>
              <a:t>KEYBERT  ·  unsupervised keyphrase extraction</a:t>
            </a:r>
            <a:endParaRPr sz="1000" b="1" i="0">
              <a:solidFill>
                <a:srgbClr val="98362A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670048"/>
            <a:ext cx="4724247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Live output on a real DevOps job description:</a:t>
            </a:r>
            <a:endParaRPr sz="1150" b="0" i="0">
              <a:solidFill>
                <a:srgbClr val="4A4C55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4A4C55"/>
                </a:solidFill>
                <a:latin typeface="Consolas"/>
              </a:rPr>
              <a:t>  devops engineer</a:t>
            </a:r>
            <a:endParaRPr sz="1100" b="0">
              <a:solidFill>
                <a:srgbClr val="4A4C55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98362A"/>
                </a:solidFill>
                <a:latin typeface="Consolas"/>
              </a:rPr>
              <a:t>  intern acme</a:t>
            </a:r>
            <a:r>
              <a:rPr sz="1100" b="0">
                <a:solidFill>
                  <a:srgbClr val="8A8D96"/>
                </a:solidFill>
                <a:latin typeface="Consolas"/>
              </a:rPr>
              <a:t>  ← company name</a:t>
            </a:r>
            <a:endParaRPr sz="1100" b="0">
              <a:solidFill>
                <a:srgbClr val="8A8D96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98362A"/>
                </a:solidFill>
                <a:latin typeface="Consolas"/>
              </a:rPr>
              <a:t>  jenkins containerization</a:t>
            </a:r>
            <a:r>
              <a:rPr sz="1100" b="0">
                <a:solidFill>
                  <a:srgbClr val="8A8D96"/>
                </a:solidFill>
                <a:latin typeface="Consolas"/>
              </a:rPr>
              <a:t>  ← spans two sentences</a:t>
            </a:r>
            <a:endParaRPr sz="1100" b="0">
              <a:solidFill>
                <a:srgbClr val="8A8D96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1">
                <a:solidFill>
                  <a:srgbClr val="98362A"/>
                </a:solidFill>
                <a:latin typeface="Consolas"/>
              </a:rPr>
              <a:t>  automation github</a:t>
            </a:r>
            <a:r>
              <a:rPr sz="1100" b="0">
                <a:solidFill>
                  <a:srgbClr val="8A8D96"/>
                </a:solidFill>
                <a:latin typeface="Consolas"/>
              </a:rPr>
              <a:t>  ← spans two sentences</a:t>
            </a:r>
            <a:endParaRPr sz="1100" b="0">
              <a:solidFill>
                <a:srgbClr val="8A8D96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4A4C55"/>
                </a:solidFill>
                <a:latin typeface="Consolas"/>
              </a:rPr>
              <a:t>  kubernetes</a:t>
            </a:r>
            <a:endParaRPr sz="1100" b="0">
              <a:solidFill>
                <a:srgbClr val="4A4C55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4A4C55"/>
                </a:solidFill>
                <a:latin typeface="Consolas"/>
              </a:rPr>
              <a:t>  engineer</a:t>
            </a:r>
            <a:endParaRPr sz="1100" b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6324447" y="2167128"/>
            <a:ext cx="5090007" cy="2880360"/>
          </a:xfrm>
          <a:prstGeom prst="rect">
            <a:avLst/>
          </a:prstGeom>
          <a:solidFill>
            <a:srgbClr val="FFFFFF"/>
          </a:solidFill>
          <a:ln w="1651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324447" y="2167128"/>
            <a:ext cx="5090007" cy="365760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07327" y="2258568"/>
            <a:ext cx="4724247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1B6340"/>
                </a:solidFill>
                <a:latin typeface="Consolas"/>
              </a:rPr>
              <a:t>LLM UNDER A SCHEMA  ·  what we use now</a:t>
            </a:r>
            <a:endParaRPr sz="100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507327" y="2670048"/>
            <a:ext cx="4724247" cy="21945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Same job description, typed and prioritised:</a:t>
            </a:r>
            <a:endParaRPr sz="1150" b="0" i="0">
              <a:solidFill>
                <a:srgbClr val="4A4C55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Docker    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tool   </a:t>
            </a:r>
            <a:r>
              <a:rPr sz="1100" b="1">
                <a:solidFill>
                  <a:srgbClr val="1B6340"/>
                </a:solidFill>
                <a:latin typeface="Consolas"/>
              </a:rPr>
              <a:t>must</a:t>
            </a:r>
            <a:endParaRPr sz="1100" b="1">
              <a:solidFill>
                <a:srgbClr val="1B634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Kubernetes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tool   </a:t>
            </a:r>
            <a:r>
              <a:rPr sz="1100" b="1">
                <a:solidFill>
                  <a:srgbClr val="1B6340"/>
                </a:solidFill>
                <a:latin typeface="Consolas"/>
              </a:rPr>
              <a:t>must</a:t>
            </a:r>
            <a:endParaRPr sz="1100" b="1">
              <a:solidFill>
                <a:srgbClr val="1B634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Terraform 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tool   </a:t>
            </a:r>
            <a:r>
              <a:rPr sz="1100" b="1">
                <a:solidFill>
                  <a:srgbClr val="1B6340"/>
                </a:solidFill>
                <a:latin typeface="Consolas"/>
              </a:rPr>
              <a:t>must</a:t>
            </a:r>
            <a:endParaRPr sz="1100" b="1">
              <a:solidFill>
                <a:srgbClr val="1B634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Linux/Unix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skill  </a:t>
            </a:r>
            <a:r>
              <a:rPr sz="1100" b="1">
                <a:solidFill>
                  <a:srgbClr val="1B6340"/>
                </a:solidFill>
                <a:latin typeface="Consolas"/>
              </a:rPr>
              <a:t>must</a:t>
            </a:r>
            <a:endParaRPr sz="1100" b="1">
              <a:solidFill>
                <a:srgbClr val="1B6340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AWS       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tool   </a:t>
            </a:r>
            <a:r>
              <a:rPr sz="1100" b="1">
                <a:solidFill>
                  <a:srgbClr val="2F5378"/>
                </a:solidFill>
                <a:latin typeface="Consolas"/>
              </a:rPr>
              <a:t>nice</a:t>
            </a:r>
            <a:endParaRPr sz="1100" b="1">
              <a:solidFill>
                <a:srgbClr val="2F5378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500"/>
              </a:spcAft>
            </a:pPr>
            <a:r>
              <a:rPr sz="1100" b="0">
                <a:solidFill>
                  <a:srgbClr val="16171B"/>
                </a:solidFill>
                <a:latin typeface="Consolas"/>
              </a:rPr>
              <a:t>  Ansible       </a:t>
            </a:r>
            <a:r>
              <a:rPr sz="1100" b="0">
                <a:solidFill>
                  <a:srgbClr val="8A8D96"/>
                </a:solidFill>
                <a:latin typeface="Consolas"/>
              </a:rPr>
              <a:t>tool   </a:t>
            </a:r>
            <a:r>
              <a:rPr sz="1100" b="1">
                <a:solidFill>
                  <a:srgbClr val="2F5378"/>
                </a:solidFill>
                <a:latin typeface="Consolas"/>
              </a:rPr>
              <a:t>nice</a:t>
            </a:r>
            <a:endParaRPr sz="1100" b="1">
              <a:solidFill>
                <a:srgbClr val="2F5378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76605" y="5110987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WHY IT WAS REPLACED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5376417"/>
            <a:ext cx="3393338" cy="1234440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41832" y="5495289"/>
            <a:ext cx="306415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6171B"/>
                </a:solidFill>
                <a:latin typeface="Segoe UI"/>
              </a:rPr>
              <a:t>No notion of a requirement.</a:t>
            </a:r>
            <a:endParaRPr sz="1200" b="1" i="0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It ranks phrases by similarity to the document, so it surfaces whatever is salient — company names, locations, boilerplate — not what the employer asks for.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4399178" y="5376417"/>
            <a:ext cx="3393338" cy="1234440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563770" y="5495289"/>
            <a:ext cx="306415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6171B"/>
                </a:solidFill>
                <a:latin typeface="Segoe UI"/>
              </a:rPr>
              <a:t>No priority.</a:t>
            </a:r>
            <a:endParaRPr sz="1200" b="1" i="0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Coverage needs must-have vs nice-to-have. An unsupervised ranker cannot produce that distinction at all.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9" name="Rectangle 18"/>
          <p:cNvSpPr/>
          <p:nvPr/>
        </p:nvSpPr>
        <p:spPr>
          <a:xfrm>
            <a:off x="8021116" y="5376417"/>
            <a:ext cx="3393338" cy="1234440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185708" y="5495289"/>
            <a:ext cx="3064154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600"/>
              </a:spcAft>
            </a:pPr>
            <a:r>
              <a:rPr sz="1200" b="1" i="0">
                <a:solidFill>
                  <a:srgbClr val="16171B"/>
                </a:solidFill>
                <a:latin typeface="Segoe UI"/>
              </a:rPr>
              <a:t>Phrases span sentences.</a:t>
            </a:r>
            <a:endParaRPr sz="1200" b="1" i="0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“jenkins containerization” welds two requirements together, so it matches neither résumé skill.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77240" y="6611112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Measured consequence: keyword_coverage and fuzzy_coverage were identically 0.0 across every calibration pair — recorded in eval/fit_calibrator.py</a:t>
            </a:r>
            <a:endParaRPr sz="950" b="0" i="0">
              <a:solidFill>
                <a:srgbClr val="8A8D9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06   </a:t>
            </a:r>
            <a:r>
              <a:rPr sz="2600" b="1">
                <a:solidFill>
                  <a:srgbClr val="16171B"/>
                </a:solidFill>
                <a:latin typeface="Georgia"/>
              </a:rPr>
              <a:t>What that replacement taught us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the same reasoning that motivates the gate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640080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600" b="0" i="0">
                <a:solidFill>
                  <a:srgbClr val="16171B"/>
                </a:solidFill>
                <a:latin typeface="Segoe UI"/>
              </a:rPr>
              <a:t>KeyBERT is an excellent keyphrase extractor. It failed here because the task was not keyphrase extraction.</a:t>
            </a:r>
            <a:endParaRPr sz="1600" b="0" i="0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400" b="1">
                <a:solidFill>
                  <a:srgbClr val="16171B"/>
                </a:solidFill>
                <a:latin typeface="Segoe UI"/>
              </a:rPr>
              <a:t>A job description does not ask for its most salient phrases. </a:t>
            </a:r>
            <a:r>
              <a:rPr sz="1400" b="0">
                <a:solidFill>
                  <a:srgbClr val="4A4C55"/>
                </a:solidFill>
                <a:latin typeface="Segoe UI"/>
              </a:rPr>
              <a:t>It asks for a typed, prioritised list of requirements — and that structure has to come from somewhere.</a:t>
            </a:r>
            <a:endParaRPr sz="1400" b="0">
              <a:solidFill>
                <a:srgbClr val="4A4C55"/>
              </a:solidFill>
              <a:latin typeface="Segoe UI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The LLM is not being used here for fluency or creativity. It is being used as a structured-extraction engine, constrained by a schema that forces every requirement into a 1–4 word token with a kind and a priority.</a:t>
            </a:r>
            <a:endParaRPr sz="13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4681728"/>
            <a:ext cx="6400800" cy="1143000"/>
          </a:xfrm>
          <a:prstGeom prst="rect">
            <a:avLst/>
          </a:prstGeom>
          <a:solidFill>
            <a:srgbClr val="E9EFF5"/>
          </a:solidFill>
          <a:ln w="16510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05840" y="4846320"/>
            <a:ext cx="5943600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950" b="1" i="0">
                <a:solidFill>
                  <a:srgbClr val="2F5378"/>
                </a:solidFill>
                <a:latin typeface="Consolas"/>
              </a:rPr>
              <a:t>THE GENERAL PRINCIPLE</a:t>
            </a:r>
            <a:endParaRPr sz="950" b="1" i="0">
              <a:solidFill>
                <a:srgbClr val="2F5378"/>
              </a:solidFill>
              <a:latin typeface="Consola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1" i="0">
                <a:solidFill>
                  <a:srgbClr val="16171B"/>
                </a:solidFill>
                <a:latin typeface="Segoe UI"/>
              </a:rPr>
              <a:t>Use the LLM where structure must be inferred. Use deterministic code where correctness must be guaranteed.</a:t>
            </a:r>
            <a:endParaRPr sz="140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26680" y="1572768"/>
            <a:ext cx="4297680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WHERE EACH TOOL SITS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26680" y="1938528"/>
            <a:ext cx="13716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TASK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98280" y="1938528"/>
            <a:ext cx="10972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TOOL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195560" y="1938528"/>
            <a:ext cx="18288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USED IN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26680" y="2212848"/>
            <a:ext cx="4297680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26680" y="2377440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Infer structure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098280" y="2377440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98362A"/>
                </a:solidFill>
                <a:latin typeface="Segoe UI"/>
              </a:rPr>
              <a:t>LLM</a:t>
            </a:r>
            <a:endParaRPr sz="1150" b="1" i="0">
              <a:solidFill>
                <a:srgbClr val="98362A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195560" y="2377440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JD parsing, extraction, rewriting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26680" y="2980944"/>
            <a:ext cx="429768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26680" y="3108960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Compare meaning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9098280" y="3108960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2F5378"/>
                </a:solidFill>
                <a:latin typeface="Segoe UI"/>
              </a:rPr>
              <a:t>mpnet</a:t>
            </a:r>
            <a:endParaRPr sz="1150" b="1" i="0">
              <a:solidFill>
                <a:srgbClr val="2F5378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0195560" y="3108960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semantic similarity only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26680" y="3712464"/>
            <a:ext cx="429768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26680" y="3840480"/>
            <a:ext cx="13716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Guarantee truth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098280" y="3840480"/>
            <a:ext cx="109728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6340"/>
                </a:solidFill>
                <a:latin typeface="Segoe UI"/>
              </a:rPr>
              <a:t>RapidFuzz</a:t>
            </a:r>
            <a:endParaRPr sz="1150" b="1" i="0">
              <a:solidFill>
                <a:srgbClr val="1B6340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195560" y="3840480"/>
            <a:ext cx="1828800" cy="65836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the gate — no model at all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26680" y="4443984"/>
            <a:ext cx="429768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26680" y="4315968"/>
            <a:ext cx="4297680" cy="1463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6171B"/>
                </a:solidFill>
                <a:latin typeface="Segoe UI"/>
              </a:rPr>
              <a:t>KeyBERT sat in the wrong row. </a:t>
            </a:r>
            <a:r>
              <a:rPr sz="1300" b="0">
                <a:solidFill>
                  <a:srgbClr val="4A4C55"/>
                </a:solidFill>
                <a:latin typeface="Segoe UI"/>
              </a:rPr>
              <a:t>It was asked to guarantee a structure it had no mechanism to produce — the same category error as trusting a prompt to guarantee truthfulness.</a:t>
            </a:r>
            <a:endParaRPr sz="1300" b="0">
              <a:solidFill>
                <a:srgbClr val="4A4C5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07   </a:t>
            </a:r>
            <a:r>
              <a:rPr sz="2600" b="1">
                <a:solidFill>
                  <a:srgbClr val="16171B"/>
                </a:solidFill>
                <a:latin typeface="Georgia"/>
              </a:rPr>
              <a:t>The provenance chain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the substrate every guarantee rests on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760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500" b="0" i="0">
                <a:solidFill>
                  <a:srgbClr val="16171B"/>
                </a:solidFill>
                <a:latin typeface="Segoe UI"/>
              </a:rPr>
              <a:t>At upload, every line of the PDF becomes a span — the exact words, plus where they came from.</a:t>
            </a:r>
            <a:endParaRPr sz="1500" b="0" i="0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A few hundred spans per résumé. This collection is the only thing the gate trusts.</a:t>
            </a:r>
            <a:endParaRPr sz="13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2715768"/>
            <a:ext cx="5760720" cy="1691640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8408" y="2898648"/>
            <a:ext cx="5394960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6171B"/>
                </a:solidFill>
                <a:latin typeface="Consolas"/>
              </a:rPr>
              <a:t>p:resume:34  →  "…sprint deliverables in Azure DevOps"</a:t>
            </a:r>
            <a:endParaRPr sz="1100" b="0" i="0">
              <a:solidFill>
                <a:srgbClr val="16171B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800"/>
              </a:spcAft>
            </a:pPr>
            <a:r>
              <a:rPr sz="1100" b="0" i="0">
                <a:solidFill>
                  <a:srgbClr val="16171B"/>
                </a:solidFill>
                <a:latin typeface="Consolas"/>
              </a:rPr>
              <a:t>p:resume:12  →  "Advanced Application Engineer (AEH)"</a:t>
            </a:r>
            <a:endParaRPr sz="1100" b="0" i="0">
              <a:solidFill>
                <a:srgbClr val="16171B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16171B"/>
                </a:solidFill>
                <a:latin typeface="Consolas"/>
              </a:rPr>
              <a:t>p:resume:07  →  "Divanshu Bhargava"</a:t>
            </a:r>
            <a:endParaRPr sz="1100" b="0" i="0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77240" y="4590288"/>
            <a:ext cx="576072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Every extracted field carries a *_prov list of the spans supporting it — attached during extraction, not reconstructed afterward.</a:t>
            </a:r>
            <a:endParaRPr sz="13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086600" y="1572768"/>
            <a:ext cx="2377440" cy="1417320"/>
          </a:xfrm>
          <a:prstGeom prst="rect">
            <a:avLst/>
          </a:prstGeom>
          <a:solidFill>
            <a:srgbClr val="E9EFF5"/>
          </a:solidFill>
          <a:ln w="1587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251192" y="1691640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5378"/>
                </a:solidFill>
                <a:latin typeface="Consolas"/>
              </a:rPr>
              <a:t>0.874</a:t>
            </a:r>
            <a:endParaRPr sz="3400" b="1" i="0">
              <a:solidFill>
                <a:srgbClr val="2F5378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7251192" y="2322576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provenance-attachment accuracy (public annotated set)</a:t>
            </a:r>
            <a:endParaRPr sz="10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9646920" y="1572768"/>
            <a:ext cx="2377440" cy="1417320"/>
          </a:xfrm>
          <a:prstGeom prst="rect">
            <a:avLst/>
          </a:prstGeom>
          <a:solidFill>
            <a:srgbClr val="E9EFF5"/>
          </a:solidFill>
          <a:ln w="1587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811512" y="1691640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5378"/>
                </a:solidFill>
                <a:latin typeface="Consolas"/>
              </a:rPr>
              <a:t>0.894</a:t>
            </a:r>
            <a:endParaRPr sz="3400" b="1" i="0">
              <a:solidFill>
                <a:srgbClr val="2F5378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811512" y="2322576"/>
            <a:ext cx="20482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same metric, synthetic set</a:t>
            </a:r>
            <a:endParaRPr sz="10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7086600" y="3081528"/>
            <a:ext cx="493776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WHY FUZZY, NOT EXACT</a:t>
            </a:r>
            <a:endParaRPr sz="950" b="1" i="0">
              <a:solidFill>
                <a:srgbClr val="8A8D96"/>
              </a:solidFill>
              <a:latin typeface="Consolas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00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Span resolution allows a 90% fuzzy match. Exact matching would reject TRUE content over invisible formatting noise — a bullet glyph, a line break mid-phrase, a non-breaking space.</a:t>
            </a:r>
            <a:endParaRPr sz="1300" b="0" i="0">
              <a:solidFill>
                <a:srgbClr val="4A4C55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4A4C55"/>
                </a:solidFill>
                <a:latin typeface="Segoe UI"/>
              </a:rPr>
              <a:t>The cost is handled downstream: finding a span is treated as </a:t>
            </a:r>
            <a:r>
              <a:rPr sz="1300" b="1">
                <a:solidFill>
                  <a:srgbClr val="16171B"/>
                </a:solidFill>
                <a:latin typeface="Segoe UI"/>
              </a:rPr>
              <a:t>necessary but not sufficient</a:t>
            </a:r>
            <a:r>
              <a:rPr sz="1300" b="0">
                <a:solidFill>
                  <a:srgbClr val="4A4C55"/>
                </a:solidFill>
                <a:latin typeface="Segoe UI"/>
              </a:rPr>
              <a:t>.</a:t>
            </a:r>
            <a:endParaRPr sz="1300" b="0">
              <a:solidFill>
                <a:srgbClr val="4A4C5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08   </a:t>
            </a:r>
            <a:r>
              <a:rPr sz="2600" b="1">
                <a:solidFill>
                  <a:srgbClr val="16171B"/>
                </a:solidFill>
                <a:latin typeface="Georgia"/>
              </a:rPr>
              <a:t>The gate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how it actually stops invention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37215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550" b="0" i="0">
                <a:solidFill>
                  <a:srgbClr val="16171B"/>
                </a:solidFill>
                <a:latin typeface="Segoe UI"/>
              </a:rPr>
              <a:t>It never asks the LLM anything. It works by deletion — the model writes freely, then anything without evidence is removed.</a:t>
            </a:r>
            <a:endParaRPr sz="1550" b="0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777240" y="2258568"/>
            <a:ext cx="3301898" cy="123444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2423160"/>
            <a:ext cx="2936138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1B6340"/>
                </a:solidFill>
                <a:latin typeface="Consolas"/>
              </a:rPr>
              <a:t>SUBTRACTIVE</a:t>
            </a:r>
            <a:endParaRPr sz="1100" b="1" i="0">
              <a:solidFill>
                <a:srgbClr val="1B6340"/>
              </a:solidFill>
              <a:latin typeface="Consola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Can only delete, never rewrite — so it cannot itself introduce content.</a:t>
            </a:r>
            <a:endParaRPr sz="12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444898" y="2258568"/>
            <a:ext cx="3301898" cy="123444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627778" y="2423160"/>
            <a:ext cx="2936138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1B6340"/>
                </a:solidFill>
                <a:latin typeface="Consolas"/>
              </a:rPr>
              <a:t>DETERMINISTIC</a:t>
            </a:r>
            <a:endParaRPr sz="1100" b="1" i="0">
              <a:solidFill>
                <a:srgbClr val="1B6340"/>
              </a:solidFill>
              <a:latin typeface="Consola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Pure string matching and regex. Same inputs, same verdict, every run.</a:t>
            </a:r>
            <a:endParaRPr sz="12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112556" y="2258568"/>
            <a:ext cx="3301898" cy="123444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95436" y="2423160"/>
            <a:ext cx="2936138" cy="9144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100" b="1" i="0">
                <a:solidFill>
                  <a:srgbClr val="1B6340"/>
                </a:solidFill>
                <a:latin typeface="Consolas"/>
              </a:rPr>
              <a:t>POST-HOC</a:t>
            </a:r>
            <a:endParaRPr sz="1100" b="1" i="0">
              <a:solidFill>
                <a:srgbClr val="1B6340"/>
              </a:solidFill>
              <a:latin typeface="Consola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Inspects finished text, so it is independent of which model produced it.</a:t>
            </a:r>
            <a:endParaRPr sz="12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777240" y="3813048"/>
            <a:ext cx="10637215" cy="3657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8A8D96"/>
                </a:solidFill>
                <a:latin typeface="Consolas"/>
              </a:rPr>
              <a:t>TWO CONTENT CLASSES, TREATED OPPOSITELY</a:t>
            </a:r>
            <a:endParaRPr sz="100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777240" y="4224528"/>
            <a:ext cx="5090007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78408" y="4370832"/>
            <a:ext cx="4687671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16171B"/>
                </a:solidFill>
                <a:latin typeface="Consolas"/>
              </a:rPr>
              <a:t>SHORT FACTS   skills · titles · employers</a:t>
            </a:r>
            <a:endParaRPr sz="1000" b="1" i="0">
              <a:solidFill>
                <a:srgbClr val="16171B"/>
              </a:solidFill>
              <a:latin typeface="Consola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Two-stage check. Find a supporting span (fuzzy ≥90), then verify EVERY word of the value appears in it (≥88).</a:t>
            </a:r>
            <a:endParaRPr sz="1250" b="0" i="0">
              <a:solidFill>
                <a:srgbClr val="4A4C55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C55"/>
                </a:solidFill>
                <a:latin typeface="Segoe UI"/>
              </a:rPr>
              <a:t>"Engineer" scores 100 against "Staff Engineer" — so finding a span is not enough. </a:t>
            </a:r>
            <a:r>
              <a:rPr sz="1200" b="1">
                <a:solidFill>
                  <a:srgbClr val="98362A"/>
                </a:solidFill>
                <a:latin typeface="Segoe UI"/>
              </a:rPr>
              <a:t>"Staff" came from nowhere.</a:t>
            </a:r>
            <a:endParaRPr sz="1200" b="1">
              <a:solidFill>
                <a:srgbClr val="98362A"/>
              </a:solidFill>
              <a:latin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6324447" y="4224528"/>
            <a:ext cx="5090007" cy="1874519"/>
          </a:xfrm>
          <a:prstGeom prst="rect">
            <a:avLst/>
          </a:prstGeom>
          <a:solidFill>
            <a:srgbClr val="FFFFFF"/>
          </a:solidFill>
          <a:ln w="12700">
            <a:solidFill>
              <a:srgbClr val="8A8D9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5615" y="4370832"/>
            <a:ext cx="4687671" cy="1645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1000" b="1" i="0">
                <a:solidFill>
                  <a:srgbClr val="16171B"/>
                </a:solidFill>
                <a:latin typeface="Consolas"/>
              </a:rPr>
              <a:t>BULLETS   prose</a:t>
            </a:r>
            <a:endParaRPr sz="1000" b="1" i="0">
              <a:solidFill>
                <a:srgbClr val="16171B"/>
              </a:solidFill>
              <a:latin typeface="Consola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Rewording is legitimate, so exact tests fail. Must (i) closely track a real bullet AND (ii) add no new hard token.</a:t>
            </a:r>
            <a:endParaRPr sz="1250" b="0" i="0">
              <a:solidFill>
                <a:srgbClr val="4A4C55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200" b="0">
                <a:solidFill>
                  <a:srgbClr val="4A4C55"/>
                </a:solidFill>
                <a:latin typeface="Segoe UI"/>
              </a:rPr>
              <a:t>"Led a team of 40 Teradata engineers" — scores well on similarity, but </a:t>
            </a:r>
            <a:r>
              <a:rPr sz="1200" b="1">
                <a:solidFill>
                  <a:srgbClr val="98362A"/>
                </a:solidFill>
                <a:latin typeface="Segoe UI"/>
              </a:rPr>
              <a:t>40 and Teradata are invented.</a:t>
            </a:r>
            <a:endParaRPr sz="1200" b="1">
              <a:solidFill>
                <a:srgbClr val="98362A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09   </a:t>
            </a:r>
            <a:r>
              <a:rPr sz="2600" b="1">
                <a:solidFill>
                  <a:srgbClr val="16171B"/>
                </a:solidFill>
                <a:latin typeface="Georgia"/>
              </a:rPr>
              <a:t>Which similarity function, and why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RapidFuzz gives four scorers — each threshold uses the one matching its failure mode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0637215" cy="4114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71B"/>
                </a:solidFill>
                <a:latin typeface="Segoe UI"/>
              </a:rPr>
              <a:t>All are character-level edit-distance ratios scored 0–100. None is a cosine similarity.</a:t>
            </a:r>
            <a:endParaRPr sz="1450" b="0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777240" y="2121408"/>
            <a:ext cx="22860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FUNCTION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063240" y="2121408"/>
            <a:ext cx="219456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COMPARES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5257800" y="2121408"/>
            <a:ext cx="1920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USED FOR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178040" y="2121408"/>
            <a:ext cx="42062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WHY THIS ONE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240" y="2395728"/>
            <a:ext cx="10637215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560320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fuzz.ratio</a:t>
            </a:r>
            <a:endParaRPr sz="11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063240" y="2560320"/>
            <a:ext cx="21945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whole-string, length-sensitive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5257800" y="2560320"/>
            <a:ext cx="19202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Skill/title equivalence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7178040" y="256032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Penalises length difference, so it will not equate a token with a longer phrase containing it — right when both sides should be the same thing.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777240" y="325526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383280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fuzz.partial_ratio</a:t>
            </a:r>
            <a:endParaRPr sz="11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3063240" y="3383280"/>
            <a:ext cx="21945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best-matching substring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5257800" y="3383280"/>
            <a:ext cx="19202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Span resolution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7178040" y="338328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Consolas"/>
              </a:rPr>
              <a:t>A short value must be findable inside a long source line. Scores 100 for any substring — powerful, and dangerous (see next slide).</a:t>
            </a:r>
            <a:endParaRPr sz="115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7240" y="407822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4206240"/>
            <a:ext cx="228600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6171B"/>
                </a:solidFill>
                <a:latin typeface="Segoe UI"/>
              </a:rPr>
              <a:t>fuzz.token_set_ratio</a:t>
            </a:r>
            <a:endParaRPr sz="11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063240" y="4206240"/>
            <a:ext cx="219456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word sets, order-free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257800" y="4206240"/>
            <a:ext cx="19202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Bullet rephrasing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7178040" y="4206240"/>
            <a:ext cx="4206240" cy="7498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4A4C55"/>
                </a:solidFill>
                <a:latin typeface="Segoe UI"/>
              </a:rPr>
              <a:t>Rewriting reorders clauses legitimately, so word order must not count against a bullet. Ignores duplicates and ordering.</a:t>
            </a:r>
            <a:endParaRPr sz="11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777240" y="490118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4727448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MEASURED BEHAVIOUR — WHY THEY ARE NOT INTERCHANGEABLE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777240" y="5093208"/>
            <a:ext cx="2556433" cy="1371600"/>
          </a:xfrm>
          <a:prstGeom prst="rect">
            <a:avLst/>
          </a:prstGeom>
          <a:solidFill>
            <a:srgbClr val="E8F1EC"/>
          </a:solidFill>
          <a:ln w="1397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14400" y="5202936"/>
            <a:ext cx="228211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C55"/>
                </a:solidFill>
                <a:latin typeface="Consolas"/>
              </a:rPr>
              <a:t>ratio("python", "pyton")</a:t>
            </a:r>
            <a:endParaRPr sz="85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914400" y="5788152"/>
            <a:ext cx="228211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1B6340"/>
                </a:solidFill>
                <a:latin typeface="Consolas"/>
              </a:rPr>
              <a:t>91   </a:t>
            </a:r>
            <a:r>
              <a:rPr sz="1300" b="0">
                <a:solidFill>
                  <a:srgbClr val="4A4C55"/>
                </a:solidFill>
                <a:latin typeface="Consolas"/>
              </a:rPr>
              <a:t>typo survives</a:t>
            </a:r>
            <a:endParaRPr sz="1300" b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3470833" y="5093208"/>
            <a:ext cx="2556433" cy="1371600"/>
          </a:xfrm>
          <a:prstGeom prst="rect">
            <a:avLst/>
          </a:prstGeom>
          <a:solidFill>
            <a:srgbClr val="E9EFF5"/>
          </a:solidFill>
          <a:ln w="13970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607993" y="5202936"/>
            <a:ext cx="228211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C55"/>
                </a:solidFill>
                <a:latin typeface="Consolas"/>
              </a:rPr>
              <a:t>ratio("python", "python programming")</a:t>
            </a:r>
            <a:endParaRPr sz="85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3607993" y="5788152"/>
            <a:ext cx="228211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2F5378"/>
                </a:solidFill>
                <a:latin typeface="Consolas"/>
              </a:rPr>
              <a:t>50   </a:t>
            </a:r>
            <a:r>
              <a:rPr sz="1300" b="0">
                <a:solidFill>
                  <a:srgbClr val="4A4C55"/>
                </a:solidFill>
                <a:latin typeface="Consolas"/>
              </a:rPr>
              <a:t>length penalised</a:t>
            </a:r>
            <a:endParaRPr sz="1300" b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33" name="Rectangle 32"/>
          <p:cNvSpPr/>
          <p:nvPr/>
        </p:nvSpPr>
        <p:spPr>
          <a:xfrm>
            <a:off x="6164427" y="5093208"/>
            <a:ext cx="2556433" cy="1371600"/>
          </a:xfrm>
          <a:prstGeom prst="rect">
            <a:avLst/>
          </a:prstGeom>
          <a:solidFill>
            <a:srgbClr val="F7EBE8"/>
          </a:solidFill>
          <a:ln w="1397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301587" y="5202936"/>
            <a:ext cx="228211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C55"/>
                </a:solidFill>
                <a:latin typeface="Consolas"/>
              </a:rPr>
              <a:t>partial_ratio("engineer", "staff engineer")</a:t>
            </a:r>
            <a:endParaRPr sz="85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301587" y="5788152"/>
            <a:ext cx="228211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8362A"/>
                </a:solidFill>
                <a:latin typeface="Consolas"/>
              </a:rPr>
              <a:t>100   </a:t>
            </a:r>
            <a:r>
              <a:rPr sz="1300" b="0">
                <a:solidFill>
                  <a:srgbClr val="4A4C55"/>
                </a:solidFill>
                <a:latin typeface="Consolas"/>
              </a:rPr>
              <a:t>substring = perfect</a:t>
            </a:r>
            <a:endParaRPr sz="1300" b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36" name="Rectangle 35"/>
          <p:cNvSpPr/>
          <p:nvPr/>
        </p:nvSpPr>
        <p:spPr>
          <a:xfrm>
            <a:off x="8858021" y="5093208"/>
            <a:ext cx="2556433" cy="1371600"/>
          </a:xfrm>
          <a:prstGeom prst="rect">
            <a:avLst/>
          </a:prstGeom>
          <a:solidFill>
            <a:srgbClr val="F7EBE8"/>
          </a:solidFill>
          <a:ln w="1397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995181" y="5202936"/>
            <a:ext cx="228211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4A4C55"/>
                </a:solidFill>
                <a:latin typeface="Consolas"/>
              </a:rPr>
              <a:t>token_set_ratio("managed 5 databases", "managed databases")</a:t>
            </a:r>
            <a:endParaRPr sz="85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8995181" y="5788152"/>
            <a:ext cx="2282113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1">
                <a:solidFill>
                  <a:srgbClr val="98362A"/>
                </a:solidFill>
                <a:latin typeface="Consolas"/>
              </a:rPr>
              <a:t>100   </a:t>
            </a:r>
            <a:r>
              <a:rPr sz="1300" b="0">
                <a:solidFill>
                  <a:srgbClr val="4A4C55"/>
                </a:solidFill>
                <a:latin typeface="Consolas"/>
              </a:rPr>
              <a:t>dropped content invisible</a:t>
            </a:r>
            <a:endParaRPr sz="1300" b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777240" y="6498082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The last two score a perfect 100 on inputs that are NOT equivalent — which is exactly why each threshold is paired with a second check.</a:t>
            </a:r>
            <a:endParaRPr sz="950" b="0" i="0">
              <a:solidFill>
                <a:srgbClr val="8A8D9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10   </a:t>
            </a:r>
            <a:r>
              <a:rPr sz="2600" b="1">
                <a:solidFill>
                  <a:srgbClr val="16171B"/>
                </a:solidFill>
                <a:latin typeface="Georgia"/>
              </a:rPr>
              <a:t>Every threshold in the system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seven constants · what each guards · how each was set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12344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VALUE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011680" y="1481328"/>
            <a:ext cx="16002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SCORER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611880" y="1481328"/>
            <a:ext cx="2606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GUARDS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217920" y="1481328"/>
            <a:ext cx="42976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BASIS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0515600" y="1481328"/>
            <a:ext cx="914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STATUS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77240" y="1755648"/>
            <a:ext cx="10637215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1920240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Segoe UI"/>
              </a:rPr>
              <a:t>90</a:t>
            </a:r>
            <a:endParaRPr sz="110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2011680" y="192024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partial_ratio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611880" y="192024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Span resolution — find_prov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6217920" y="1920240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Conventional high-confidence cut. Deliberately treated as necessary-not-sufficient.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515600" y="192024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D96"/>
                </a:solidFill>
                <a:latin typeface="Segoe UI"/>
              </a:rPr>
              <a:t>convention</a:t>
            </a:r>
            <a:endParaRPr sz="1100" b="0" i="0">
              <a:solidFill>
                <a:srgbClr val="8A8D96"/>
              </a:solidFill>
              <a:latin typeface="Segoe UI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243230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560320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Segoe UI"/>
              </a:rPr>
              <a:t>88</a:t>
            </a:r>
            <a:endParaRPr sz="110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2011680" y="256032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partial_ratio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3611880" y="256032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Every word of an added value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217920" y="2560320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Consolas"/>
              </a:rPr>
              <a:t>Slightly looser than 90 to tolerate inflection. Guards the Engineer -&gt; Staff Engineer attack.</a:t>
            </a:r>
            <a:endParaRPr sz="110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0515600" y="256032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D96"/>
                </a:solidFill>
                <a:latin typeface="Segoe UI"/>
              </a:rPr>
              <a:t>convention</a:t>
            </a:r>
            <a:endParaRPr sz="1100" b="0" i="0">
              <a:solidFill>
                <a:srgbClr val="8A8D96"/>
              </a:solidFill>
              <a:latin typeface="Segoe UI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777240" y="307238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77240" y="3200400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340"/>
                </a:solidFill>
                <a:latin typeface="Segoe UI"/>
              </a:rPr>
              <a:t>60</a:t>
            </a:r>
            <a:endParaRPr sz="1100" b="1" i="0">
              <a:solidFill>
                <a:srgbClr val="1B6340"/>
              </a:solidFill>
              <a:latin typeface="Segoe UI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011680" y="320040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token_set_ratio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611880" y="320040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Bullet is a rephrasing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17920" y="3200400"/>
            <a:ext cx="4297680" cy="19367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Consolas"/>
              </a:rPr>
              <a:t>MEASURED: rephrasings 68-87, inventions 37-42.</a:t>
            </a:r>
            <a:endParaRPr sz="1100" b="1" i="0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10515600" y="320040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B6340"/>
                </a:solidFill>
                <a:latin typeface="Segoe UI"/>
              </a:rPr>
              <a:t>empirical</a:t>
            </a:r>
            <a:endParaRPr sz="1100" b="1" i="0">
              <a:solidFill>
                <a:srgbClr val="1B6340"/>
              </a:solidFill>
              <a:latin typeface="Segoe UI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240" y="371246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3840480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Segoe UI"/>
              </a:rPr>
              <a:t>85</a:t>
            </a:r>
            <a:endParaRPr sz="110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2011680" y="384048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ratio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611880" y="384048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Skill satisfies a requirement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6217920" y="3840480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Typo tolerance on skill tokens; below this, different skills start colliding.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10515600" y="384048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D96"/>
                </a:solidFill>
                <a:latin typeface="Segoe UI"/>
              </a:rPr>
              <a:t>convention</a:t>
            </a:r>
            <a:endParaRPr sz="1100" b="0" i="0">
              <a:solidFill>
                <a:srgbClr val="8A8D96"/>
              </a:solidFill>
              <a:latin typeface="Segoe UI"/>
            </a:endParaRPr>
          </a:p>
        </p:txBody>
      </p:sp>
      <p:sp>
        <p:nvSpPr>
          <p:cNvPr id="34" name="Rectangle 33"/>
          <p:cNvSpPr/>
          <p:nvPr/>
        </p:nvSpPr>
        <p:spPr>
          <a:xfrm>
            <a:off x="777240" y="435254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480560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Segoe UI"/>
              </a:rPr>
              <a:t>85</a:t>
            </a:r>
            <a:endParaRPr sz="110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36" name="TextBox 35"/>
          <p:cNvSpPr txBox="1"/>
          <p:nvPr/>
        </p:nvSpPr>
        <p:spPr>
          <a:xfrm>
            <a:off x="2011680" y="448056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ratio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611880" y="448056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Fuzzy coverage, per word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217920" y="4480560"/>
            <a:ext cx="4297680" cy="38798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Same rationale, applied word-wise so phrasal requirements </a:t>
            </a:r>
            <a:endParaRPr sz="1100" b="0" i="0">
              <a:solidFill>
                <a:srgbClr val="4A4C55"/>
              </a:solidFill>
              <a:latin typeface="Segoe UI"/>
            </a:endParaRP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get partial credit.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10515600" y="448056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8A8D96"/>
                </a:solidFill>
                <a:latin typeface="Segoe UI"/>
              </a:rPr>
              <a:t>convention</a:t>
            </a:r>
            <a:endParaRPr sz="1100" b="0" i="0">
              <a:solidFill>
                <a:srgbClr val="8A8D96"/>
              </a:solidFill>
              <a:latin typeface="Segoe UI"/>
            </a:endParaRPr>
          </a:p>
        </p:txBody>
      </p:sp>
      <p:sp>
        <p:nvSpPr>
          <p:cNvPr id="40" name="Rectangle 39"/>
          <p:cNvSpPr/>
          <p:nvPr/>
        </p:nvSpPr>
        <p:spPr>
          <a:xfrm>
            <a:off x="777240" y="499262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5120640"/>
            <a:ext cx="12344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16171B"/>
                </a:solidFill>
                <a:latin typeface="Segoe UI"/>
              </a:rPr>
              <a:t>0.65 / 0.45</a:t>
            </a:r>
            <a:endParaRPr sz="110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011680" y="5120640"/>
            <a:ext cx="16002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2F5378"/>
                </a:solidFill>
                <a:latin typeface="Segoe UI"/>
              </a:rPr>
              <a:t>cosine</a:t>
            </a:r>
            <a:endParaRPr sz="1100" b="1" i="0">
              <a:solidFill>
                <a:srgbClr val="2F5378"/>
              </a:solidFill>
              <a:latin typeface="Segoe UI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3611880" y="5120640"/>
            <a:ext cx="260604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Requirement present / weak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6217920" y="5120640"/>
            <a:ext cx="429768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0" i="0">
                <a:solidFill>
                  <a:srgbClr val="4A4C55"/>
                </a:solidFill>
                <a:latin typeface="Segoe UI"/>
              </a:rPr>
              <a:t>SCORING ONLY — never gates anything. Provisional; never swept against a labelled set.</a:t>
            </a:r>
            <a:endParaRPr sz="11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10515600" y="5120640"/>
            <a:ext cx="914400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98362A"/>
                </a:solidFill>
                <a:latin typeface="Segoe UI"/>
              </a:rPr>
              <a:t>untuned</a:t>
            </a:r>
            <a:endParaRPr sz="1100" b="1" i="0">
              <a:solidFill>
                <a:srgbClr val="98362A"/>
              </a:solidFill>
              <a:latin typeface="Segoe UI"/>
            </a:endParaRPr>
          </a:p>
        </p:txBody>
      </p:sp>
      <p:sp>
        <p:nvSpPr>
          <p:cNvPr id="46" name="Rectangle 45"/>
          <p:cNvSpPr/>
          <p:nvPr/>
        </p:nvSpPr>
        <p:spPr>
          <a:xfrm>
            <a:off x="777240" y="5632704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Rectangle 46"/>
          <p:cNvSpPr/>
          <p:nvPr/>
        </p:nvSpPr>
        <p:spPr>
          <a:xfrm>
            <a:off x="776605" y="5638673"/>
            <a:ext cx="10637215" cy="841248"/>
          </a:xfrm>
          <a:prstGeom prst="rect">
            <a:avLst/>
          </a:prstGeom>
          <a:solidFill>
            <a:srgbClr val="F1F0ED"/>
          </a:solidFill>
          <a:ln w="12700">
            <a:solidFill>
              <a:srgbClr val="D8D6D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978535" y="5739765"/>
            <a:ext cx="10180015" cy="640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>
                <a:solidFill>
                  <a:srgbClr val="16171B"/>
                </a:solidFill>
                <a:latin typeface="Segoe UI"/>
              </a:rPr>
              <a:t>Be honest about this: </a:t>
            </a:r>
            <a:r>
              <a:rPr sz="1250" b="0">
                <a:solidFill>
                  <a:srgbClr val="4A4C55"/>
                </a:solidFill>
                <a:latin typeface="Segoe UI"/>
              </a:rPr>
              <a:t>only 60 has an empirical derivation. 88, 90 and 85 are conventional defaults, validated only indirectly by the gate's overall behaviour on the benchmark. A threshold sweep is legitimate future work.</a:t>
            </a:r>
            <a:endParaRPr sz="1250" b="0">
              <a:solidFill>
                <a:srgbClr val="4A4C5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11   </a:t>
            </a:r>
            <a:r>
              <a:rPr sz="2600" b="1">
                <a:solidFill>
                  <a:srgbClr val="16171B"/>
                </a:solidFill>
                <a:latin typeface="Georgia"/>
              </a:rPr>
              <a:t>The gate deciding, step by step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three real cases traced through the checks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3362858" cy="3977639"/>
          </a:xfrm>
          <a:prstGeom prst="rect">
            <a:avLst/>
          </a:prstGeom>
          <a:solidFill>
            <a:srgbClr val="FFFFFF"/>
          </a:solidFill>
          <a:ln w="1778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777240" y="1481328"/>
            <a:ext cx="3362858" cy="384048"/>
          </a:xfrm>
          <a:prstGeom prst="rect">
            <a:avLst/>
          </a:prstGeom>
          <a:solidFill>
            <a:srgbClr val="E8F1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1581912"/>
            <a:ext cx="303367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1B6340"/>
                </a:solidFill>
                <a:latin typeface="Consolas"/>
              </a:rPr>
              <a:t>SHIPPED</a:t>
            </a:r>
            <a:endParaRPr sz="105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41832" y="2011680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B"/>
                </a:solidFill>
                <a:latin typeface="Segoe UI"/>
              </a:rPr>
              <a:t>"Azure" added to skills</a:t>
            </a:r>
            <a:endParaRPr sz="12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41832" y="2688336"/>
            <a:ext cx="303367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340"/>
                </a:solidFill>
                <a:latin typeface="Consolas"/>
              </a:rPr>
              <a:t>PASS   </a:t>
            </a:r>
            <a:r>
              <a:rPr sz="1050" b="1">
                <a:solidFill>
                  <a:srgbClr val="16171B"/>
                </a:solidFill>
                <a:latin typeface="Consolas"/>
              </a:rPr>
              <a:t>find_prov ≥ 90</a:t>
            </a:r>
            <a:endParaRPr sz="1050" b="1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41832" y="2926080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Span found: "…sprint deliverables in Azure DevOps"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941832" y="3584448"/>
            <a:ext cx="303367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340"/>
                </a:solidFill>
                <a:latin typeface="Consolas"/>
              </a:rPr>
              <a:t>PASS   </a:t>
            </a:r>
            <a:r>
              <a:rPr sz="1050" b="1">
                <a:solidFill>
                  <a:srgbClr val="16171B"/>
                </a:solidFill>
                <a:latin typeface="Consolas"/>
              </a:rPr>
              <a:t>every word ≥ 88</a:t>
            </a:r>
            <a:endParaRPr sz="1050" b="1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941832" y="3822192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"azure" appears in that span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41832" y="4480560"/>
            <a:ext cx="303367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D96"/>
                </a:solidFill>
                <a:latin typeface="Consolas"/>
              </a:rPr>
              <a:t>·   </a:t>
            </a:r>
            <a:r>
              <a:rPr sz="1050" b="1">
                <a:solidFill>
                  <a:srgbClr val="16171B"/>
                </a:solidFill>
                <a:latin typeface="Consolas"/>
              </a:rPr>
              <a:t>verdict</a:t>
            </a:r>
            <a:endParaRPr sz="1050" b="1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941832" y="4718304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Under-reported, not invented. Counted as a verified edit.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414418" y="1481328"/>
            <a:ext cx="3362858" cy="3977639"/>
          </a:xfrm>
          <a:prstGeom prst="rect">
            <a:avLst/>
          </a:prstGeom>
          <a:solidFill>
            <a:srgbClr val="FFFFFF"/>
          </a:solidFill>
          <a:ln w="1778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414418" y="1481328"/>
            <a:ext cx="3362858" cy="384048"/>
          </a:xfrm>
          <a:prstGeom prst="rect">
            <a:avLst/>
          </a:prstGeom>
          <a:solidFill>
            <a:srgbClr val="F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9010" y="1581912"/>
            <a:ext cx="303367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8362A"/>
                </a:solidFill>
                <a:latin typeface="Consolas"/>
              </a:rPr>
              <a:t>REJECTED</a:t>
            </a:r>
            <a:endParaRPr sz="1050" b="1" i="0">
              <a:solidFill>
                <a:srgbClr val="98362A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4579010" y="2011680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B"/>
                </a:solidFill>
                <a:latin typeface="Segoe UI"/>
              </a:rPr>
              <a:t>"Staff Engineer" as a title</a:t>
            </a:r>
            <a:endParaRPr sz="12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4579010" y="2688336"/>
            <a:ext cx="303367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340"/>
                </a:solidFill>
                <a:latin typeface="Consolas"/>
              </a:rPr>
              <a:t>PASS   </a:t>
            </a:r>
            <a:r>
              <a:rPr sz="1050" b="1">
                <a:solidFill>
                  <a:srgbClr val="16171B"/>
                </a:solidFill>
                <a:latin typeface="Consolas"/>
              </a:rPr>
              <a:t>find_prov ≥ 90</a:t>
            </a:r>
            <a:endParaRPr sz="1050" b="1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4579010" y="2926080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Span "Engineer" scores 100 — substring match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4579010" y="3584448"/>
            <a:ext cx="303367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8362A"/>
                </a:solidFill>
                <a:latin typeface="Consolas"/>
              </a:rPr>
              <a:t>FAIL   </a:t>
            </a:r>
            <a:r>
              <a:rPr sz="1050" b="1">
                <a:solidFill>
                  <a:srgbClr val="16171B"/>
                </a:solidFill>
                <a:latin typeface="Consolas"/>
              </a:rPr>
              <a:t>every word ≥ 88</a:t>
            </a:r>
            <a:endParaRPr sz="1050" b="1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4579010" y="3822192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"staff" is absent from the span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4579010" y="4480560"/>
            <a:ext cx="303367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D96"/>
                </a:solidFill>
                <a:latin typeface="Consolas"/>
              </a:rPr>
              <a:t>·   </a:t>
            </a:r>
            <a:r>
              <a:rPr sz="1050" b="1">
                <a:solidFill>
                  <a:srgbClr val="16171B"/>
                </a:solidFill>
                <a:latin typeface="Consolas"/>
              </a:rPr>
              <a:t>verdict</a:t>
            </a:r>
            <a:endParaRPr sz="1050" b="1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579010" y="4718304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Span found, but it does not support the whole claim. Dropped.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5" name="Rectangle 24"/>
          <p:cNvSpPr/>
          <p:nvPr/>
        </p:nvSpPr>
        <p:spPr>
          <a:xfrm>
            <a:off x="8051596" y="1481328"/>
            <a:ext cx="3362858" cy="3977639"/>
          </a:xfrm>
          <a:prstGeom prst="rect">
            <a:avLst/>
          </a:prstGeom>
          <a:solidFill>
            <a:srgbClr val="FFFFFF"/>
          </a:solidFill>
          <a:ln w="1778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051596" y="1481328"/>
            <a:ext cx="3362858" cy="384048"/>
          </a:xfrm>
          <a:prstGeom prst="rect">
            <a:avLst/>
          </a:prstGeom>
          <a:solidFill>
            <a:srgbClr val="F7EB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216188" y="1581912"/>
            <a:ext cx="3033674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 i="0">
                <a:solidFill>
                  <a:srgbClr val="98362A"/>
                </a:solidFill>
                <a:latin typeface="Consolas"/>
              </a:rPr>
              <a:t>REJECTED</a:t>
            </a:r>
            <a:endParaRPr sz="1050" b="1" i="0">
              <a:solidFill>
                <a:srgbClr val="98362A"/>
              </a:solidFill>
              <a:latin typeface="Consolas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8216188" y="2011680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0"/>
              </a:spcAft>
            </a:pPr>
            <a:r>
              <a:rPr sz="1250" b="1" i="0">
                <a:solidFill>
                  <a:srgbClr val="16171B"/>
                </a:solidFill>
                <a:latin typeface="Segoe UI"/>
              </a:rPr>
              <a:t>"Led a team of 40 Teradata engineers"</a:t>
            </a:r>
            <a:endParaRPr sz="1250" b="1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8216188" y="2688336"/>
            <a:ext cx="303367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1B6340"/>
                </a:solidFill>
                <a:latin typeface="Consolas"/>
              </a:rPr>
              <a:t>PASS   </a:t>
            </a:r>
            <a:r>
              <a:rPr sz="1050" b="1">
                <a:solidFill>
                  <a:srgbClr val="16171B"/>
                </a:solidFill>
                <a:latin typeface="Consolas"/>
              </a:rPr>
              <a:t>token_set_ratio ≥ 60</a:t>
            </a:r>
            <a:endParaRPr sz="1050" b="1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30" name="TextBox 29"/>
          <p:cNvSpPr txBox="1"/>
          <p:nvPr/>
        </p:nvSpPr>
        <p:spPr>
          <a:xfrm>
            <a:off x="8216188" y="2926080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Scores well — recycles source vocabulary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8216188" y="3584448"/>
            <a:ext cx="303367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98362A"/>
                </a:solidFill>
                <a:latin typeface="Consolas"/>
              </a:rPr>
              <a:t>FAIL   </a:t>
            </a:r>
            <a:r>
              <a:rPr sz="1050" b="1">
                <a:solidFill>
                  <a:srgbClr val="16171B"/>
                </a:solidFill>
                <a:latin typeface="Consolas"/>
              </a:rPr>
              <a:t>no new hard tokens</a:t>
            </a:r>
            <a:endParaRPr sz="1050" b="1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8216188" y="3822192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"40" and "Teradata" are unsourced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8216188" y="4480560"/>
            <a:ext cx="3033674" cy="256032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8A8D96"/>
                </a:solidFill>
                <a:latin typeface="Consolas"/>
              </a:rPr>
              <a:t>·   </a:t>
            </a:r>
            <a:r>
              <a:rPr sz="1050" b="1">
                <a:solidFill>
                  <a:srgbClr val="16171B"/>
                </a:solidFill>
                <a:latin typeface="Consolas"/>
              </a:rPr>
              <a:t>verdict</a:t>
            </a:r>
            <a:endParaRPr sz="1050" b="1">
              <a:solidFill>
                <a:srgbClr val="16171B"/>
              </a:solidFill>
              <a:latin typeface="Consola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8216188" y="4718304"/>
            <a:ext cx="3033674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Segoe UI"/>
              </a:rPr>
              <a:t>Both conditions required. Similarity alone is not enough.</a:t>
            </a:r>
            <a:endParaRPr sz="10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Rejections are counted in the FabricationReport — total_edits, verified_edits, rejected_edits, fabrication_rate.</a:t>
            </a:r>
            <a:endParaRPr sz="950" b="0" i="0">
              <a:solidFill>
                <a:srgbClr val="8A8D9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12   </a:t>
            </a:r>
            <a:r>
              <a:rPr sz="2600" b="1">
                <a:solidFill>
                  <a:srgbClr val="16171B"/>
                </a:solidFill>
                <a:latin typeface="Georgia"/>
              </a:rPr>
              <a:t>Where the numbers come from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the bullet threshold was measured, not chosen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566928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50" b="0" i="0">
                <a:solidFill>
                  <a:srgbClr val="16171B"/>
                </a:solidFill>
                <a:latin typeface="Segoe UI"/>
              </a:rPr>
              <a:t>Rewrites were scored against their source bullets. The two classes separate cleanly:</a:t>
            </a:r>
            <a:endParaRPr sz="1450" b="0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2505450" y="2697480"/>
            <a:ext cx="3712450" cy="9525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276850" y="27706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D96"/>
                </a:solidFill>
                <a:latin typeface="Consolas"/>
              </a:rPr>
              <a:t>30</a:t>
            </a:r>
            <a:endParaRPr sz="90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3337550" y="27706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D96"/>
                </a:solidFill>
                <a:latin typeface="Consolas"/>
              </a:rPr>
              <a:t>50</a:t>
            </a:r>
            <a:endParaRPr sz="90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4398250" y="27706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D96"/>
                </a:solidFill>
                <a:latin typeface="Consolas"/>
              </a:rPr>
              <a:t>70</a:t>
            </a:r>
            <a:endParaRPr sz="90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5458950" y="2770632"/>
            <a:ext cx="457200" cy="228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900" b="0" i="0">
                <a:solidFill>
                  <a:srgbClr val="8A8D96"/>
                </a:solidFill>
                <a:latin typeface="Consolas"/>
              </a:rPr>
              <a:t>90</a:t>
            </a:r>
            <a:endParaRPr sz="90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2876695" y="2167128"/>
            <a:ext cx="265175" cy="502920"/>
          </a:xfrm>
          <a:prstGeom prst="rect">
            <a:avLst/>
          </a:prstGeom>
          <a:solidFill>
            <a:srgbClr val="F7EBE8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465215" y="3081528"/>
            <a:ext cx="173736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100" b="1" i="0">
                <a:solidFill>
                  <a:srgbClr val="98362A"/>
                </a:solidFill>
                <a:latin typeface="Consolas"/>
              </a:rPr>
              <a:t>inventions</a:t>
            </a:r>
            <a:endParaRPr sz="1100" b="1" i="0">
              <a:solidFill>
                <a:srgbClr val="98362A"/>
              </a:solidFill>
              <a:latin typeface="Consola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Consolas"/>
              </a:rPr>
              <a:t>37 – 42</a:t>
            </a:r>
            <a:endParaRPr sz="105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520780" y="2167128"/>
            <a:ext cx="1007665" cy="50292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200740" y="3081528"/>
            <a:ext cx="16459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100"/>
              </a:spcAft>
            </a:pPr>
            <a:r>
              <a:rPr sz="1050" b="1" i="0">
                <a:solidFill>
                  <a:srgbClr val="1B6340"/>
                </a:solidFill>
                <a:latin typeface="Consolas"/>
              </a:rPr>
              <a:t>genuine rephrasings</a:t>
            </a:r>
            <a:endParaRPr sz="1050" b="1" i="0">
              <a:solidFill>
                <a:srgbClr val="1B6340"/>
              </a:solidFill>
              <a:latin typeface="Consolas"/>
            </a:endParaRPr>
          </a:p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050" b="0" i="0">
                <a:solidFill>
                  <a:srgbClr val="4A4C55"/>
                </a:solidFill>
                <a:latin typeface="Consolas"/>
              </a:rPr>
              <a:t>68 – 87</a:t>
            </a:r>
            <a:endParaRPr sz="105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15" name="Rectangle 14"/>
          <p:cNvSpPr/>
          <p:nvPr/>
        </p:nvSpPr>
        <p:spPr>
          <a:xfrm>
            <a:off x="4096500" y="1892808"/>
            <a:ext cx="31750" cy="1051560"/>
          </a:xfrm>
          <a:prstGeom prst="rect">
            <a:avLst/>
          </a:prstGeom>
          <a:solidFill>
            <a:srgbClr val="2F537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72295" y="1664589"/>
            <a:ext cx="1280160" cy="2926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2F5378"/>
                </a:solidFill>
                <a:latin typeface="Consolas"/>
              </a:rPr>
              <a:t>60</a:t>
            </a:r>
            <a:endParaRPr sz="1350" b="1" i="0">
              <a:solidFill>
                <a:srgbClr val="2F5378"/>
              </a:solidFill>
              <a:latin typeface="Consolas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858768"/>
            <a:ext cx="6126480" cy="12801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90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60 sits in the empty band between the two classes — nothing was observed there, so the threshold is robust to small shifts.</a:t>
            </a:r>
            <a:endParaRPr sz="1350" b="0" i="0">
              <a:solidFill>
                <a:srgbClr val="4A4C55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98362A"/>
                </a:solidFill>
                <a:latin typeface="Segoe UI"/>
              </a:rPr>
              <a:t>90 was tried first: it rejected EVERY genuine rephrasing.</a:t>
            </a:r>
            <a:endParaRPr sz="1350" b="1" i="0">
              <a:solidFill>
                <a:srgbClr val="98362A"/>
              </a:solidFill>
              <a:latin typeface="Segoe UI"/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7360920" y="1481455"/>
            <a:ext cx="4663440" cy="2377440"/>
          </a:xfrm>
          <a:prstGeom prst="rect">
            <a:avLst/>
          </a:prstGeom>
          <a:solidFill>
            <a:srgbClr val="E9EFF5"/>
          </a:solidFill>
          <a:ln w="1587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589520" y="1664208"/>
            <a:ext cx="4206240" cy="18288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950" b="1" i="0">
                <a:solidFill>
                  <a:srgbClr val="2F5378"/>
                </a:solidFill>
                <a:latin typeface="Consolas"/>
              </a:rPr>
              <a:t>IMPORTANT DISTINCTION</a:t>
            </a:r>
            <a:endParaRPr sz="950" b="1" i="0">
              <a:solidFill>
                <a:srgbClr val="2F5378"/>
              </a:solidFill>
              <a:latin typeface="Consolas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400" b="1" i="0">
                <a:solidFill>
                  <a:srgbClr val="16171B"/>
                </a:solidFill>
                <a:latin typeface="Segoe UI"/>
              </a:rPr>
              <a:t>None of the gate's thresholds are cosine similarities.</a:t>
            </a:r>
            <a:endParaRPr sz="1400" b="1" i="0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They are RapidFuzz string-edit ratios — character-level, no neural network, no vectors.</a:t>
            </a:r>
            <a:endParaRPr sz="1250" b="0" i="0">
              <a:solidFill>
                <a:srgbClr val="4A4C55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Embeddings would be worse here: 'Staff Engineer' and 'Engineer' are semantically very similar, differing by exactly the fabricated part.</a:t>
            </a:r>
            <a:endParaRPr sz="12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777240" y="6291072"/>
            <a:ext cx="10637215" cy="3200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0" i="0">
                <a:solidFill>
                  <a:srgbClr val="8A8D96"/>
                </a:solidFill>
                <a:latin typeface="Consolas"/>
              </a:rPr>
              <a:t>Cosine similarity appears only in scoring (sem_hi 0.65 / sem_lo 0.45) — never in the gate.</a:t>
            </a:r>
            <a:endParaRPr sz="950" b="0" i="0">
              <a:solidFill>
                <a:srgbClr val="8A8D96"/>
              </a:solidFill>
              <a:latin typeface="Consola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13   </a:t>
            </a:r>
            <a:r>
              <a:rPr sz="2600" b="1">
                <a:solidFill>
                  <a:srgbClr val="16171B"/>
                </a:solidFill>
                <a:latin typeface="Georgia"/>
              </a:rPr>
              <a:t>Does it work?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30 résumé/JD pairs · the headline result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2743200" cy="1417320"/>
          </a:xfrm>
          <a:prstGeom prst="rect">
            <a:avLst/>
          </a:prstGeom>
          <a:solidFill>
            <a:srgbClr val="F7EBE8"/>
          </a:solidFill>
          <a:ln w="15875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41832" y="1600200"/>
            <a:ext cx="241401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98362A"/>
                </a:solidFill>
                <a:latin typeface="Consolas"/>
              </a:rPr>
              <a:t>40</a:t>
            </a:r>
            <a:endParaRPr sz="3400" b="1" i="0">
              <a:solidFill>
                <a:srgbClr val="98362A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941832" y="2231136"/>
            <a:ext cx="241401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unsourced claims shipped with prompt grounding ALONE</a:t>
            </a:r>
            <a:endParaRPr sz="10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3749040" y="1481328"/>
            <a:ext cx="2743200" cy="141732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13632" y="1600200"/>
            <a:ext cx="241401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1B6340"/>
                </a:solidFill>
                <a:latin typeface="Consolas"/>
              </a:rPr>
              <a:t>0</a:t>
            </a:r>
            <a:endParaRPr sz="340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913632" y="2231136"/>
            <a:ext cx="241401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shipped with the gate enabled</a:t>
            </a:r>
            <a:endParaRPr sz="10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720840" y="1481328"/>
            <a:ext cx="2743200" cy="1417320"/>
          </a:xfrm>
          <a:prstGeom prst="rect">
            <a:avLst/>
          </a:prstGeom>
          <a:solidFill>
            <a:srgbClr val="E8F1EC"/>
          </a:solidFill>
          <a:ln w="15875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85432" y="1600200"/>
            <a:ext cx="241401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2800" b="1" i="0">
                <a:solidFill>
                  <a:srgbClr val="1B6340"/>
                </a:solidFill>
                <a:latin typeface="Consolas"/>
              </a:rPr>
              <a:t>31 → 0</a:t>
            </a:r>
            <a:endParaRPr sz="280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885432" y="2231136"/>
            <a:ext cx="241401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same result, second model (qwen2.5:14b)</a:t>
            </a:r>
            <a:endParaRPr sz="10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4" name="Rectangle 13"/>
          <p:cNvSpPr/>
          <p:nvPr/>
        </p:nvSpPr>
        <p:spPr>
          <a:xfrm>
            <a:off x="9692640" y="1481328"/>
            <a:ext cx="1691640" cy="1417320"/>
          </a:xfrm>
          <a:prstGeom prst="rect">
            <a:avLst/>
          </a:prstGeom>
          <a:solidFill>
            <a:srgbClr val="E9EFF5"/>
          </a:solidFill>
          <a:ln w="1587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857232" y="1600200"/>
            <a:ext cx="13624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3400" b="1" i="0">
                <a:solidFill>
                  <a:srgbClr val="2F5378"/>
                </a:solidFill>
                <a:latin typeface="Consolas"/>
              </a:rPr>
              <a:t>4</a:t>
            </a:r>
            <a:endParaRPr sz="3400" b="1" i="0">
              <a:solidFill>
                <a:srgbClr val="2F5378"/>
              </a:solidFill>
              <a:latin typeface="Consolas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9857232" y="2231136"/>
            <a:ext cx="1362456" cy="56692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4A4C55"/>
                </a:solidFill>
                <a:latin typeface="Segoe UI"/>
              </a:rPr>
              <a:t>caught only by span resolution</a:t>
            </a:r>
            <a:endParaRPr sz="10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777240" y="3264408"/>
            <a:ext cx="548640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MEASURE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6263640" y="326440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GATE OFF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823960" y="3264408"/>
            <a:ext cx="256032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GATE ON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7240" y="3538728"/>
            <a:ext cx="10637215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703320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Documents shipping completely clean</a:t>
            </a:r>
            <a:endParaRPr sz="13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6263640" y="37033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98362A"/>
                </a:solidFill>
                <a:latin typeface="Consolas"/>
              </a:rPr>
              <a:t>20/30  =  66.7%</a:t>
            </a:r>
            <a:endParaRPr sz="1350" b="1" i="0">
              <a:solidFill>
                <a:srgbClr val="98362A"/>
              </a:solidFill>
              <a:latin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8823960" y="3703320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6340"/>
                </a:solidFill>
                <a:latin typeface="Consolas"/>
              </a:rPr>
              <a:t>30/30  =  100%</a:t>
            </a:r>
            <a:endParaRPr sz="135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7240" y="4105656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4233672"/>
            <a:ext cx="548640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0" i="0">
                <a:solidFill>
                  <a:srgbClr val="4A4C55"/>
                </a:solidFill>
                <a:latin typeface="Segoe UI"/>
              </a:rPr>
              <a:t>Individual edits that were unsourced</a:t>
            </a:r>
            <a:endParaRPr sz="135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6263640" y="423367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98362A"/>
                </a:solidFill>
                <a:latin typeface="Consolas"/>
              </a:rPr>
              <a:t>40/72  =  44%</a:t>
            </a:r>
            <a:endParaRPr sz="1350" b="1" i="0">
              <a:solidFill>
                <a:srgbClr val="98362A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8823960" y="4233672"/>
            <a:ext cx="2560320" cy="457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50" b="1" i="0">
                <a:solidFill>
                  <a:srgbClr val="1B6340"/>
                </a:solidFill>
                <a:latin typeface="Consolas"/>
              </a:rPr>
              <a:t>0/32  =  0%</a:t>
            </a:r>
            <a:endParaRPr sz="135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240" y="4636008"/>
            <a:ext cx="10637215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4773168"/>
            <a:ext cx="10637215" cy="13716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1450" b="1">
                <a:solidFill>
                  <a:srgbClr val="16171B"/>
                </a:solidFill>
                <a:latin typeface="Segoe UI"/>
              </a:rPr>
              <a:t>The 32 supported edits still shipped. </a:t>
            </a:r>
            <a:r>
              <a:rPr sz="1450" b="0">
                <a:solidFill>
                  <a:srgbClr val="4A4C55"/>
                </a:solidFill>
                <a:latin typeface="Segoe UI"/>
              </a:rPr>
              <a:t>The gate removed the unsupported subset — it did not suppress rewriting.</a:t>
            </a:r>
            <a:endParaRPr sz="1450" b="0">
              <a:solidFill>
                <a:srgbClr val="4A4C55"/>
              </a:solidFill>
              <a:latin typeface="Segoe UI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Ablation: replacing span-resolved provenance with a plain substring search over the source text catches 36 of 40 — and misses 4 additions that appear somewhere in the document but are not supported where the rewriter used them.</a:t>
            </a:r>
            <a:endParaRPr sz="1300" b="0" i="0">
              <a:solidFill>
                <a:srgbClr val="4A4C5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7315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14   </a:t>
            </a:r>
            <a:r>
              <a:rPr sz="2600" b="1">
                <a:solidFill>
                  <a:srgbClr val="16171B"/>
                </a:solidFill>
                <a:latin typeface="Georgia"/>
              </a:rPr>
              <a:t>What that zero does — and does not — mean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state this before you are asked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777240" y="1481328"/>
            <a:ext cx="10637215" cy="1417320"/>
          </a:xfrm>
          <a:prstGeom prst="rect">
            <a:avLst/>
          </a:prstGeom>
          <a:solidFill>
            <a:srgbClr val="F7EBE8"/>
          </a:solidFill>
          <a:ln w="19050">
            <a:solidFill>
              <a:srgbClr val="98362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682496"/>
            <a:ext cx="100885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98362A"/>
                </a:solidFill>
                <a:latin typeface="Georgia"/>
              </a:rPr>
              <a:t>Gate-ON = 0 is true BY CONSTRUCTION. It is not an empirical finding.</a:t>
            </a:r>
            <a:endParaRPr sz="1900" b="1" i="0">
              <a:solidFill>
                <a:srgbClr val="98362A"/>
              </a:solidFill>
              <a:latin typeface="Georgi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171B"/>
                </a:solidFill>
                <a:latin typeface="Segoe UI"/>
              </a:rPr>
              <a:t>The gate's mechanism is deleting exactly those claims — so of course none survive. Presenting this as a discovery would be dishonest.</a:t>
            </a:r>
            <a:endParaRPr sz="1400" b="0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3172968"/>
            <a:ext cx="10637215" cy="1417320"/>
          </a:xfrm>
          <a:prstGeom prst="rect">
            <a:avLst/>
          </a:prstGeom>
          <a:solidFill>
            <a:srgbClr val="E8F1EC"/>
          </a:solidFill>
          <a:ln w="19050">
            <a:solidFill>
              <a:srgbClr val="1B63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3374135"/>
            <a:ext cx="100885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900" b="1" i="0">
                <a:solidFill>
                  <a:srgbClr val="1B6340"/>
                </a:solidFill>
                <a:latin typeface="Georgia"/>
              </a:rPr>
              <a:t>The real finding is the OTHER number: gate-OFF = 40.</a:t>
            </a:r>
            <a:endParaRPr sz="1900" b="1" i="0">
              <a:solidFill>
                <a:srgbClr val="1B6340"/>
              </a:solidFill>
              <a:latin typeface="Georgia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0"/>
              </a:spcAft>
            </a:pPr>
            <a:r>
              <a:rPr sz="1400" b="0" i="0">
                <a:solidFill>
                  <a:srgbClr val="16171B"/>
                </a:solidFill>
                <a:latin typeface="Segoe UI"/>
              </a:rPr>
              <a:t>A prompt that explicitly says “an honest gap is the correct output; a fabricated match is a failure” still shipped 40 unsourced claims across 30 pairs.</a:t>
            </a:r>
            <a:endParaRPr sz="1400" b="0" i="0">
              <a:solidFill>
                <a:srgbClr val="16171B"/>
              </a:solidFill>
              <a:latin typeface="Segoe UI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777240" y="4910328"/>
            <a:ext cx="1063721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71B"/>
                </a:solidFill>
                <a:latin typeface="Segoe UI"/>
              </a:rPr>
              <a:t>Prompts express preferences. They do not enforce constraints. </a:t>
            </a:r>
            <a:r>
              <a:rPr sz="1500" b="0">
                <a:solidFill>
                  <a:srgbClr val="4A4C55"/>
                </a:solidFill>
                <a:latin typeface="Segoe UI"/>
              </a:rPr>
              <a:t>That the guarantee holds identically on a second, independently hosted model shows it is a property of the gate, not of one model's generation style.</a:t>
            </a:r>
            <a:endParaRPr sz="1500" b="0">
              <a:solidFill>
                <a:srgbClr val="4A4C55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6153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</a:t>
            </a:r>
            <a:r>
              <a:rPr lang="en-IN" sz="2600" b="0">
                <a:solidFill>
                  <a:srgbClr val="8A8D96"/>
                </a:solidFill>
                <a:latin typeface="Georgia"/>
              </a:rPr>
              <a:t>5</a:t>
            </a:r>
            <a:r>
              <a:rPr sz="2600" b="0">
                <a:solidFill>
                  <a:srgbClr val="8A8D96"/>
                </a:solidFill>
                <a:latin typeface="Georgia"/>
              </a:rPr>
              <a:t>   </a:t>
            </a:r>
            <a:r>
              <a:rPr sz="2600" b="1">
                <a:solidFill>
                  <a:srgbClr val="16171B"/>
                </a:solidFill>
                <a:latin typeface="Georgia"/>
              </a:rPr>
              <a:t>A worked example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live run · DevOps Engineer Intern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481328"/>
            <a:ext cx="292608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COMPONENT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703320" y="148132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BEFORE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5166360" y="1481328"/>
            <a:ext cx="1463040" cy="2743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AFTER</a:t>
            </a:r>
            <a:endParaRPr sz="950" b="1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77240" y="1755648"/>
            <a:ext cx="5852160" cy="13970"/>
          </a:xfrm>
          <a:prstGeom prst="rect">
            <a:avLst/>
          </a:prstGeom>
          <a:solidFill>
            <a:srgbClr val="8A8D9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920240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Match score (display)</a:t>
            </a:r>
            <a:endParaRPr sz="13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703320" y="1920240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30</a:t>
            </a:r>
            <a:endParaRPr sz="130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5166360" y="1920240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31</a:t>
            </a:r>
            <a:endParaRPr sz="130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777240" y="2286000"/>
            <a:ext cx="58521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77240" y="2414016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Keyword match</a:t>
            </a:r>
            <a:endParaRPr sz="13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3703320" y="2414016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30.0%</a:t>
            </a:r>
            <a:endParaRPr sz="130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5166360" y="2414016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31.2%</a:t>
            </a:r>
            <a:endParaRPr sz="130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777240" y="2779776"/>
            <a:ext cx="58521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77240" y="2907792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Semantic match</a:t>
            </a:r>
            <a:endParaRPr sz="13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18" name="TextBox 17"/>
          <p:cNvSpPr txBox="1"/>
          <p:nvPr/>
        </p:nvSpPr>
        <p:spPr>
          <a:xfrm>
            <a:off x="3703320" y="2907792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60.0%</a:t>
            </a:r>
            <a:endParaRPr sz="130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5166360" y="2907792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63.8%</a:t>
            </a:r>
            <a:endParaRPr sz="130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20" name="Rectangle 19"/>
          <p:cNvSpPr/>
          <p:nvPr/>
        </p:nvSpPr>
        <p:spPr>
          <a:xfrm>
            <a:off x="777240" y="3273552"/>
            <a:ext cx="58521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401568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Nice-to-have coverage</a:t>
            </a:r>
            <a:endParaRPr sz="13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3703320" y="3401568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0.0%</a:t>
            </a:r>
            <a:endParaRPr sz="130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5166360" y="3401568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1" i="0">
                <a:solidFill>
                  <a:srgbClr val="1B6340"/>
                </a:solidFill>
                <a:latin typeface="Consolas"/>
              </a:rPr>
              <a:t>50.0%</a:t>
            </a:r>
            <a:endParaRPr sz="130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777240" y="3767328"/>
            <a:ext cx="58521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3895344"/>
            <a:ext cx="292608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Segoe UI"/>
              </a:rPr>
              <a:t>Must-have coverage</a:t>
            </a:r>
            <a:endParaRPr sz="1300" b="0" i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26" name="TextBox 25"/>
          <p:cNvSpPr txBox="1"/>
          <p:nvPr/>
        </p:nvSpPr>
        <p:spPr>
          <a:xfrm>
            <a:off x="3703320" y="3895344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76.5%</a:t>
            </a:r>
            <a:endParaRPr sz="130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5166360" y="3895344"/>
            <a:ext cx="1463040" cy="420624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4A4C55"/>
                </a:solidFill>
                <a:latin typeface="Consolas"/>
              </a:rPr>
              <a:t>76.5%</a:t>
            </a:r>
            <a:endParaRPr sz="1300" b="0" i="0">
              <a:solidFill>
                <a:srgbClr val="4A4C55"/>
              </a:solidFill>
              <a:latin typeface="Consolas"/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777240" y="4261104"/>
            <a:ext cx="5852160" cy="6350"/>
          </a:xfrm>
          <a:prstGeom prst="rect">
            <a:avLst/>
          </a:prstGeom>
          <a:solidFill>
            <a:srgbClr val="D8D6D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178040" y="1481328"/>
            <a:ext cx="4846320" cy="23774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90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ONE EDIT SURVIVED THE GATE</a:t>
            </a:r>
            <a:endParaRPr sz="950" b="1" i="0">
              <a:solidFill>
                <a:srgbClr val="8A8D96"/>
              </a:solidFill>
              <a:latin typeface="Consolas"/>
            </a:endParaRPr>
          </a:p>
          <a:p>
            <a:pPr>
              <a:spcBef>
                <a:spcPts val="0"/>
              </a:spcBef>
              <a:spcAft>
                <a:spcPts val="900"/>
              </a:spcAft>
            </a:pPr>
            <a:r>
              <a:rPr sz="1600" b="1">
                <a:solidFill>
                  <a:srgbClr val="1B6340"/>
                </a:solidFill>
                <a:latin typeface="Segoe UI"/>
              </a:rPr>
              <a:t>Azure</a:t>
            </a:r>
            <a:r>
              <a:rPr sz="1600" b="0">
                <a:solidFill>
                  <a:srgbClr val="16171B"/>
                </a:solidFill>
                <a:latin typeface="Segoe UI"/>
              </a:rPr>
              <a:t> was promoted into the skills list.</a:t>
            </a:r>
            <a:endParaRPr sz="1600" b="0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0" i="0">
                <a:solidFill>
                  <a:srgbClr val="4A4C55"/>
                </a:solidFill>
                <a:latin typeface="Segoe UI"/>
              </a:rPr>
              <a:t>It was already evidenced in a work bullet — “…tracking work items and sprint deliverables in Azure DevOps” — but missing from the skills section.</a:t>
            </a:r>
            <a:endParaRPr sz="1250" b="0" i="0">
              <a:solidFill>
                <a:srgbClr val="4A4C55"/>
              </a:solidFill>
              <a:latin typeface="Segoe UI"/>
            </a:endParaRPr>
          </a:p>
          <a:p>
            <a:pPr>
              <a:lnSpc>
                <a:spcPct val="120000"/>
              </a:lnSpc>
              <a:spcBef>
                <a:spcPts val="0"/>
              </a:spcBef>
              <a:spcAft>
                <a:spcPts val="900"/>
              </a:spcAft>
            </a:pPr>
            <a:r>
              <a:rPr sz="1250" b="1" i="0">
                <a:solidFill>
                  <a:srgbClr val="16171B"/>
                </a:solidFill>
                <a:latin typeface="Segoe UI"/>
              </a:rPr>
              <a:t>Under-reported, not new. The gate verified it against that span.</a:t>
            </a:r>
            <a:endParaRPr sz="1250" b="1" i="0">
              <a:solidFill>
                <a:srgbClr val="16171B"/>
              </a:solidFill>
              <a:latin typeface="Segoe UI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1" i="0">
                <a:solidFill>
                  <a:srgbClr val="1B6340"/>
                </a:solidFill>
                <a:latin typeface="Consolas"/>
              </a:rPr>
              <a:t>total_edits 1  ·  verified 1  ·  rejected 0</a:t>
            </a:r>
            <a:endParaRPr sz="1150" b="1" i="0">
              <a:solidFill>
                <a:srgbClr val="1B6340"/>
              </a:solidFill>
              <a:latin typeface="Consolas"/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777240" y="4361688"/>
            <a:ext cx="10637215" cy="1371600"/>
          </a:xfrm>
          <a:prstGeom prst="rect">
            <a:avLst/>
          </a:prstGeom>
          <a:solidFill>
            <a:srgbClr val="E9EFF5"/>
          </a:solidFill>
          <a:ln w="15875">
            <a:solidFill>
              <a:srgbClr val="2F537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1051560" y="4544568"/>
            <a:ext cx="10088575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700"/>
              </a:spcAft>
            </a:pPr>
            <a:r>
              <a:rPr sz="1500" b="1" i="0">
                <a:solidFill>
                  <a:srgbClr val="2F5378"/>
                </a:solidFill>
                <a:latin typeface="Segoe UI"/>
              </a:rPr>
              <a:t>How to read a +1 point improvement</a:t>
            </a:r>
            <a:endParaRPr sz="1500" b="1" i="0">
              <a:solidFill>
                <a:srgbClr val="2F5378"/>
              </a:solidFill>
              <a:latin typeface="Segoe UI"/>
            </a:endParaRPr>
          </a:p>
          <a:p>
            <a:pPr>
              <a:lnSpc>
                <a:spcPct val="122000"/>
              </a:lnSpc>
              <a:spcBef>
                <a:spcPts val="0"/>
              </a:spcBef>
              <a:spcAft>
                <a:spcPts val="0"/>
              </a:spcAft>
            </a:pPr>
            <a:r>
              <a:rPr sz="1300" b="0" i="0">
                <a:solidFill>
                  <a:srgbClr val="16171B"/>
                </a:solidFill>
                <a:latin typeface="Segoe UI"/>
              </a:rPr>
              <a:t>This is the finding, not a weak result. Must-have coverage did not move because the résumé genuinely lacks AWS, GCP, Terraform, Ansible, Jenkins and ELK. A system that moved this résumé from 30 to 85 would be lying. Truthful tailoring has a low ceiling — set by what the candidate has actually done.</a:t>
            </a:r>
            <a:endParaRPr sz="1300" b="0" i="0">
              <a:solidFill>
                <a:srgbClr val="16171B"/>
              </a:solidFill>
              <a:latin typeface="Segoe U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77240" y="566928"/>
            <a:ext cx="32004" cy="566928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78408" y="502920"/>
            <a:ext cx="10436047" cy="61531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300"/>
              </a:spcAft>
            </a:pPr>
            <a:r>
              <a:rPr sz="2600" b="0">
                <a:solidFill>
                  <a:srgbClr val="8A8D96"/>
                </a:solidFill>
                <a:latin typeface="Georgia"/>
              </a:rPr>
              <a:t>1</a:t>
            </a:r>
            <a:r>
              <a:rPr lang="en-IN" sz="2600" b="0">
                <a:solidFill>
                  <a:srgbClr val="8A8D96"/>
                </a:solidFill>
                <a:latin typeface="Georgia"/>
              </a:rPr>
              <a:t>6</a:t>
            </a:r>
            <a:r>
              <a:rPr sz="2600" b="0">
                <a:solidFill>
                  <a:srgbClr val="8A8D96"/>
                </a:solidFill>
                <a:latin typeface="Georgia"/>
              </a:rPr>
              <a:t>   </a:t>
            </a:r>
            <a:r>
              <a:rPr sz="2600" b="1">
                <a:solidFill>
                  <a:srgbClr val="16171B"/>
                </a:solidFill>
                <a:latin typeface="Georgia"/>
              </a:rPr>
              <a:t>Conclusion</a:t>
            </a:r>
            <a:endParaRPr sz="2600" b="1">
              <a:solidFill>
                <a:srgbClr val="16171B"/>
              </a:solidFill>
              <a:latin typeface="Georgia"/>
            </a:endParaRPr>
          </a:p>
          <a:p>
            <a:pPr>
              <a:spcBef>
                <a:spcPts val="0"/>
              </a:spcBef>
              <a:spcAft>
                <a:spcPts val="0"/>
              </a:spcAft>
            </a:pPr>
            <a:r>
              <a:rPr sz="1150" b="0" i="0">
                <a:solidFill>
                  <a:srgbClr val="8A8D96"/>
                </a:solidFill>
                <a:latin typeface="Consolas"/>
              </a:rPr>
              <a:t>what this project establishes</a:t>
            </a:r>
            <a:endParaRPr sz="1150" b="0" i="0">
              <a:solidFill>
                <a:srgbClr val="8A8D96"/>
              </a:solidFill>
              <a:latin typeface="Consolas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777240" y="1572768"/>
            <a:ext cx="6766560" cy="31089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16171B"/>
                </a:solidFill>
                <a:latin typeface="Segoe UI"/>
              </a:rPr>
              <a:t>A provenance identifier space survives unbroken from ingestion through rewriting.</a:t>
            </a:r>
            <a:endParaRPr sz="1550" b="0" i="0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1400"/>
              </a:spcAft>
            </a:pPr>
            <a:r>
              <a:rPr sz="1550" b="0" i="0">
                <a:solidFill>
                  <a:srgbClr val="16171B"/>
                </a:solidFill>
                <a:latin typeface="Segoe UI"/>
              </a:rPr>
              <a:t>The match score is calibrated against a real ATS engine, not an embedding proxy.</a:t>
            </a:r>
            <a:endParaRPr sz="1550" b="0" i="0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2000"/>
              </a:spcAft>
            </a:pPr>
            <a:r>
              <a:rPr sz="1550" b="0" i="0">
                <a:solidFill>
                  <a:srgbClr val="16171B"/>
                </a:solidFill>
                <a:latin typeface="Segoe UI"/>
              </a:rPr>
              <a:t>A deterministic gate rejects any value the provenance chain cannot support — verified on two independent model backends.</a:t>
            </a:r>
            <a:endParaRPr sz="1550" b="0" i="0">
              <a:solidFill>
                <a:srgbClr val="16171B"/>
              </a:solidFill>
              <a:latin typeface="Segoe UI"/>
            </a:endParaRPr>
          </a:p>
          <a:p>
            <a:pPr>
              <a:lnSpc>
                <a:spcPct val="125000"/>
              </a:lnSpc>
              <a:spcBef>
                <a:spcPts val="0"/>
              </a:spcBef>
              <a:spcAft>
                <a:spcPts val="0"/>
              </a:spcAft>
            </a:pPr>
            <a:r>
              <a:rPr sz="1500" b="1">
                <a:solidFill>
                  <a:srgbClr val="16171B"/>
                </a:solidFill>
                <a:latin typeface="Segoe UI"/>
              </a:rPr>
              <a:t>The measured result: </a:t>
            </a:r>
            <a:r>
              <a:rPr sz="1500" b="0">
                <a:solidFill>
                  <a:srgbClr val="4A4C55"/>
                </a:solidFill>
                <a:latin typeface="Segoe UI"/>
              </a:rPr>
              <a:t>prompt grounding alone let a third of documents ship a fabricated claim. The gate reduces that to zero.</a:t>
            </a:r>
            <a:endParaRPr sz="1500" b="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8092440" y="1572768"/>
            <a:ext cx="4023360" cy="1157605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200"/>
              </a:spcAft>
            </a:pPr>
            <a:r>
              <a:rPr sz="950" b="1" i="0">
                <a:solidFill>
                  <a:srgbClr val="8A8D96"/>
                </a:solidFill>
                <a:latin typeface="Consolas"/>
              </a:rPr>
              <a:t>NEXT STEPS</a:t>
            </a:r>
            <a:endParaRPr sz="950" b="1" i="0">
              <a:solidFill>
                <a:srgbClr val="8A8D96"/>
              </a:solidFill>
              <a:latin typeface="Consolas"/>
            </a:endParaRP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250">
                <a:solidFill>
                  <a:srgbClr val="8A8D96"/>
                </a:solidFill>
                <a:latin typeface="Segoe UI"/>
              </a:rPr>
              <a:t>— </a:t>
            </a:r>
            <a:r>
              <a:rPr sz="1250">
                <a:solidFill>
                  <a:srgbClr val="4A4C55"/>
                </a:solidFill>
                <a:latin typeface="Segoe UI"/>
              </a:rPr>
              <a:t>The gate's false-positive rate</a:t>
            </a:r>
            <a:endParaRPr sz="1250">
              <a:solidFill>
                <a:srgbClr val="4A4C55"/>
              </a:solidFill>
              <a:latin typeface="Segoe UI"/>
            </a:endParaRPr>
          </a:p>
          <a:p>
            <a:pPr>
              <a:lnSpc>
                <a:spcPct val="122000"/>
              </a:lnSpc>
              <a:spcAft>
                <a:spcPts val="1200"/>
              </a:spcAft>
            </a:pPr>
            <a:r>
              <a:rPr sz="1250">
                <a:solidFill>
                  <a:srgbClr val="8A8D96"/>
                </a:solidFill>
                <a:latin typeface="Segoe UI"/>
              </a:rPr>
              <a:t>— </a:t>
            </a:r>
            <a:r>
              <a:rPr sz="1250">
                <a:solidFill>
                  <a:srgbClr val="4A4C55"/>
                </a:solidFill>
                <a:latin typeface="Segoe UI"/>
              </a:rPr>
              <a:t>An adversarial rewriter instructed to evade the gate</a:t>
            </a:r>
            <a:endParaRPr sz="1250">
              <a:solidFill>
                <a:srgbClr val="4A4C55"/>
              </a:solidFill>
              <a:latin typeface="Segoe UI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777240" y="5440680"/>
            <a:ext cx="10637215" cy="822960"/>
          </a:xfrm>
          <a:prstGeom prst="rect">
            <a:avLst/>
          </a:prstGeom>
          <a:solidFill>
            <a:srgbClr val="1617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5614416"/>
            <a:ext cx="999713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700" b="1" i="0">
                <a:solidFill>
                  <a:srgbClr val="FAF9F7"/>
                </a:solidFill>
                <a:latin typeface="Georgia"/>
              </a:rPr>
              <a:t>Truthful tailoring has a low ceiling. Making that ceiling visible is more useful than optimising past it.</a:t>
            </a:r>
            <a:endParaRPr sz="1700" b="1" i="0">
              <a:solidFill>
                <a:srgbClr val="FAF9F7"/>
              </a:solidFill>
              <a:latin typeface="Georgi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14234</Words>
  <Application>WPS Presentation</Application>
  <PresentationFormat>On-screen Show (4:3)</PresentationFormat>
  <Paragraphs>580</Paragraphs>
  <Slides>17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17</vt:i4>
      </vt:variant>
    </vt:vector>
  </HeadingPairs>
  <TitlesOfParts>
    <vt:vector size="32" baseType="lpstr">
      <vt:lpstr>Arial</vt:lpstr>
      <vt:lpstr>SimSun</vt:lpstr>
      <vt:lpstr>Wingdings</vt:lpstr>
      <vt:lpstr>Arial</vt:lpstr>
      <vt:lpstr>DejaVu Sans</vt:lpstr>
      <vt:lpstr>Consolas</vt:lpstr>
      <vt:lpstr>TeX Gyre Bonum</vt:lpstr>
      <vt:lpstr>Georgia</vt:lpstr>
      <vt:lpstr>Segoe UI</vt:lpstr>
      <vt:lpstr>Calibri</vt:lpstr>
      <vt:lpstr>Microsoft YaHei</vt:lpstr>
      <vt:lpstr>Noto Sans CJK SC</vt:lpstr>
      <vt:lpstr>Arial Unicode MS</vt:lpstr>
      <vt:lpstr>Noto Color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dc:description>generated using python-pptx</dc:description>
  <cp:lastModifiedBy>divanshub</cp:lastModifiedBy>
  <cp:revision>7</cp:revision>
  <dcterms:created xsi:type="dcterms:W3CDTF">2026-08-14T10:05:50Z</dcterms:created>
  <dcterms:modified xsi:type="dcterms:W3CDTF">2026-08-14T10:05:50Z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/>
  </property>
  <property fmtid="{D5CDD505-2E9C-101B-9397-08002B2CF9AE}" pid="3" name="KSOProductBuildVer">
    <vt:lpwstr>1033-11.1.0.11723</vt:lpwstr>
  </property>
</Properties>
</file>